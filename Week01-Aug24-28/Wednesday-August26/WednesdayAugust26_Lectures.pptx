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6"/>
  </p:notesMasterIdLst>
  <p:sldIdLst>
    <p:sldId id="256" r:id="rId2"/>
    <p:sldId id="310" r:id="rId3"/>
    <p:sldId id="260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269" r:id="rId12"/>
    <p:sldId id="270" r:id="rId13"/>
    <p:sldId id="276" r:id="rId14"/>
    <p:sldId id="257" r:id="rId15"/>
    <p:sldId id="258" r:id="rId16"/>
    <p:sldId id="259" r:id="rId17"/>
    <p:sldId id="329" r:id="rId18"/>
    <p:sldId id="261" r:id="rId19"/>
    <p:sldId id="262" r:id="rId20"/>
    <p:sldId id="263" r:id="rId21"/>
    <p:sldId id="265" r:id="rId22"/>
    <p:sldId id="266" r:id="rId23"/>
    <p:sldId id="267" r:id="rId24"/>
    <p:sldId id="268" r:id="rId25"/>
    <p:sldId id="273" r:id="rId26"/>
    <p:sldId id="274" r:id="rId27"/>
    <p:sldId id="275" r:id="rId28"/>
    <p:sldId id="332" r:id="rId29"/>
    <p:sldId id="333" r:id="rId30"/>
    <p:sldId id="278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6" r:id="rId40"/>
    <p:sldId id="297" r:id="rId41"/>
    <p:sldId id="298" r:id="rId42"/>
    <p:sldId id="299" r:id="rId43"/>
    <p:sldId id="300" r:id="rId44"/>
    <p:sldId id="30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60787" autoAdjust="0"/>
  </p:normalViewPr>
  <p:slideViewPr>
    <p:cSldViewPr snapToGrid="0">
      <p:cViewPr>
        <p:scale>
          <a:sx n="57" d="100"/>
          <a:sy n="57" d="100"/>
        </p:scale>
        <p:origin x="15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5A3C1-EAE4-4E64-843B-37C9F613D4A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2658B-1600-4AEB-88D6-E6D50E318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2658B-1600-4AEB-88D6-E6D50E3184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8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16105" y="6337598"/>
            <a:ext cx="2844800" cy="365125"/>
          </a:xfrm>
        </p:spPr>
        <p:txBody>
          <a:bodyPr/>
          <a:lstStyle/>
          <a:p>
            <a:fld id="{ECF12D5F-C0E9-43E4-B204-B6004AF6CFF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5125" y="6337599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185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9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847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839-496B-4E84-B207-94A0A35EE08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21600" y="632696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8536" y="165915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D95779-7F80-4C85-8F95-26994BC33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55721" y="6337599"/>
            <a:ext cx="2844800" cy="365125"/>
          </a:xfrm>
        </p:spPr>
        <p:txBody>
          <a:bodyPr/>
          <a:lstStyle/>
          <a:p>
            <a:fld id="{168028F9-E915-4DB3-94D4-DE121F29E0F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83908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99908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0227" y="6347074"/>
            <a:ext cx="2844800" cy="365125"/>
          </a:xfrm>
        </p:spPr>
        <p:txBody>
          <a:bodyPr/>
          <a:lstStyle/>
          <a:p>
            <a:fld id="{4B5B81A6-DB36-4741-8CD6-F7FBAAABF3B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18415" y="6347075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34415" y="145800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8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0227" y="6356351"/>
            <a:ext cx="2844800" cy="365125"/>
          </a:xfrm>
        </p:spPr>
        <p:txBody>
          <a:bodyPr/>
          <a:lstStyle/>
          <a:p>
            <a:fld id="{D5AF6FFD-3AC2-4F69-BE1B-7719243D3EA2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7041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3041" y="16259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2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755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55721" y="6338916"/>
            <a:ext cx="2844800" cy="365125"/>
          </a:xfrm>
        </p:spPr>
        <p:txBody>
          <a:bodyPr/>
          <a:lstStyle/>
          <a:p>
            <a:fld id="{5EE139DB-B7A2-4601-9BAB-3432B380BBA7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528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9128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81600" y="6321664"/>
            <a:ext cx="2844800" cy="365125"/>
          </a:xfrm>
        </p:spPr>
        <p:txBody>
          <a:bodyPr/>
          <a:lstStyle/>
          <a:p>
            <a:fld id="{21E7DF24-40FE-47C4-8D7B-FCC6470D08E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78800" y="6321664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94800" y="171211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6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07479" y="6308728"/>
            <a:ext cx="2844800" cy="365125"/>
          </a:xfrm>
        </p:spPr>
        <p:txBody>
          <a:bodyPr/>
          <a:lstStyle/>
          <a:p>
            <a:fld id="{53F2D3B9-3066-470E-9529-47ECCF8D556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4566" y="6308728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0679" y="90487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24732" y="6337990"/>
            <a:ext cx="2844800" cy="365125"/>
          </a:xfrm>
        </p:spPr>
        <p:txBody>
          <a:bodyPr/>
          <a:lstStyle/>
          <a:p>
            <a:fld id="{90035843-31B5-4BFA-8529-8CC819254A67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0174" y="634603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6174" y="14684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0611" y="6356350"/>
            <a:ext cx="2844800" cy="365125"/>
          </a:xfrm>
        </p:spPr>
        <p:txBody>
          <a:bodyPr/>
          <a:lstStyle/>
          <a:p>
            <a:fld id="{0B0649A7-D779-44C1-B813-493A43ED40D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70173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6173" y="16258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6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67864" y="6338916"/>
            <a:ext cx="2844800" cy="365125"/>
          </a:xfrm>
        </p:spPr>
        <p:txBody>
          <a:bodyPr/>
          <a:lstStyle/>
          <a:p>
            <a:fld id="{279018F1-558F-4DC1-97DB-E1B5B3347B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9605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205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1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EAD4A-2217-4C7E-B667-60CDAA17FAE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ew templat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7114C82-B9E8-4CAA-8F90-F8EBCB8EFE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3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400"/>
            </a:pPr>
            <a:r>
              <a:rPr sz="4000" b="1" dirty="0"/>
              <a:t>Milestone 0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32934" y="25420"/>
            <a:ext cx="64990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chemeClr val="bg1"/>
                </a:solidFill>
              </a:rPr>
              <a:t>From Real-World Thing to Software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623" y="822960"/>
            <a:ext cx="11403105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Real-world concept: a product for sale.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Software model: a Product class.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Individual items in the catalog become Product objects.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623" y="793377"/>
            <a:ext cx="11134165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CLASS = blueprint/type definition.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OBJECT = a particular instance created from that class.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One Product class can be used to create many Product objects.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Each object can hold different values.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D804B-B877-E280-5F5F-19A9BD8C532B}"/>
              </a:ext>
            </a:extLst>
          </p:cNvPr>
          <p:cNvSpPr txBox="1"/>
          <p:nvPr/>
        </p:nvSpPr>
        <p:spPr>
          <a:xfrm>
            <a:off x="2632934" y="25420"/>
            <a:ext cx="31021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1"/>
                </a:solidFill>
              </a:rPr>
              <a:t>Classes and Objects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097280"/>
            <a:ext cx="1069848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 err="1"/>
              <a:t>ProductID</a:t>
            </a:r>
            <a:r>
              <a:rPr sz="2800" dirty="0"/>
              <a:t> — unique internal identifier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ProductName — descriptive name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Category — type/category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Price — monetary value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 err="1"/>
              <a:t>InStock</a:t>
            </a:r>
            <a:r>
              <a:rPr sz="2800" dirty="0"/>
              <a:t> — yes/no availability state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These values become members of our Product class.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50CE8-EFB5-F026-C949-0F1656272745}"/>
              </a:ext>
            </a:extLst>
          </p:cNvPr>
          <p:cNvSpPr txBox="1"/>
          <p:nvPr/>
        </p:nvSpPr>
        <p:spPr>
          <a:xfrm>
            <a:off x="2632934" y="25420"/>
            <a:ext cx="44911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1"/>
                </a:solidFill>
              </a:rPr>
              <a:t>What Should a Product Store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32934" y="0"/>
            <a:ext cx="54252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chemeClr val="bg1"/>
                </a:solidFill>
              </a:rPr>
              <a:t>Fields: Direct Storage in a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65224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field is a variable declared directly inside a class.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Fields can be instance fields or static fields.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field stores data.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Public fields expose storage directly; in object-oriented design we often prefer properties for public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2287" y="0"/>
            <a:ext cx="53957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Reading a Field Declaration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5715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public → accessibility</a:t>
            </a:r>
            <a:endParaRPr lang="en-US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string → data type</a:t>
            </a:r>
            <a:endParaRPr lang="en-US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ProductName → member name</a:t>
            </a:r>
            <a:endParaRPr lang="en-US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= "" → initial value</a:t>
            </a:r>
            <a:endParaRPr lang="en-US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b="1" i="1" dirty="0"/>
              <a:t>Important: this declaration is a FIELD, not a property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7468" y="937260"/>
            <a:ext cx="5394960" cy="498348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txBody>
          <a:bodyPr wrap="square" lIns="164592" tIns="137160" rIns="164592" bIns="137160">
            <a:spAutoFit/>
          </a:bodyPr>
          <a:lstStyle/>
          <a:p>
            <a:pPr>
              <a:defRPr sz="1500">
                <a:latin typeface="Consolas"/>
              </a:defRPr>
            </a:pPr>
            <a:r>
              <a:t>public string ProductName = "";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80852" y="0"/>
            <a:ext cx="35119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Field vs.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282" y="882127"/>
            <a:ext cx="530352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/>
              <a:t>These two declarations may look similar, but they are different language features.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/>
              <a:t>A field is direct storage.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/>
              <a:t>A property exposes access through accessors such as get and set.</a:t>
            </a:r>
            <a:endParaRPr lang="en-US"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4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/>
              <a:t>Recognizing this difference is essential for Milestone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882127"/>
            <a:ext cx="5394960" cy="498348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txBody>
          <a:bodyPr wrap="square" lIns="164592" tIns="137160" rIns="164592" bIns="137160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// FIELD</a:t>
            </a:r>
            <a:br>
              <a:rPr dirty="0"/>
            </a:br>
            <a:r>
              <a:rPr dirty="0"/>
              <a:t>public string ProductName = "";</a:t>
            </a:r>
            <a:br>
              <a:rPr dirty="0"/>
            </a:br>
            <a:br>
              <a:rPr dirty="0"/>
            </a:br>
            <a:r>
              <a:rPr dirty="0"/>
              <a:t>// PROPERTY</a:t>
            </a:r>
            <a:br>
              <a:rPr dirty="0"/>
            </a:br>
            <a:r>
              <a:rPr dirty="0"/>
              <a:t>public string ProductName { get; set; } = "";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54158" y="0"/>
            <a:ext cx="21715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79"/>
            <a:ext cx="10676965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900"/>
              </a:spcAft>
              <a:buFont typeface="+mj-lt"/>
              <a:buAutoNum type="arabicPeriod"/>
              <a:defRPr sz="2000"/>
            </a:pPr>
            <a:r>
              <a:rPr sz="2800" dirty="0"/>
              <a:t>Properties provide an object-oriented interface to data.</a:t>
            </a:r>
          </a:p>
          <a:p>
            <a:pPr marL="514350" indent="-514350">
              <a:spcAft>
                <a:spcPts val="900"/>
              </a:spcAft>
              <a:buFont typeface="+mj-lt"/>
              <a:buAutoNum type="arabicPeriod"/>
              <a:defRPr sz="2000"/>
            </a:pPr>
            <a:r>
              <a:rPr sz="2800" dirty="0"/>
              <a:t>This gives us flexibility for validation and other rules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7369" y="0"/>
            <a:ext cx="37231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Understanding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94590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get means the property can be read.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When code reads a property, its get accessor supplies the value.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get accessor can simply return stored data—or perform a calculation.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1123" y="0"/>
            <a:ext cx="36928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Understanding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79"/>
            <a:ext cx="10784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set means the property can be assigned a value.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When code assigns to a property, the set accessor handles that assignment.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Later, setters can validate or reject inappropriate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9793" y="25420"/>
            <a:ext cx="52868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chemeClr val="bg1"/>
                </a:solidFill>
              </a:rPr>
              <a:t>Auto-Implemented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689" y="914400"/>
            <a:ext cx="530352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600" dirty="0"/>
              <a:t>{ get; set; } is an auto-implemented property.</a:t>
            </a:r>
            <a:endParaRPr lang="en-US"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600" dirty="0"/>
              <a:t>C# provides the hidden storage automatically.</a:t>
            </a:r>
            <a:endParaRPr lang="en-US"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600" dirty="0"/>
              <a:t>Use this when no special logic is needed in get or set.</a:t>
            </a:r>
            <a:endParaRPr lang="en-US"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6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600" dirty="0"/>
              <a:t>It keeps simple model classes concise.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628" y="914400"/>
            <a:ext cx="5394960" cy="4983480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txBody>
          <a:bodyPr wrap="square" lIns="164592" tIns="137160" rIns="164592" bIns="137160">
            <a:spAutoFit/>
          </a:bodyPr>
          <a:lstStyle/>
          <a:p>
            <a:pPr>
              <a:defRPr sz="1500">
                <a:latin typeface="Consolas"/>
              </a:defRPr>
            </a:pPr>
            <a:r>
              <a:t>public decimal Price { get; set; } = 0m;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1911" y="0"/>
            <a:ext cx="66294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Why Properties Become Powerful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836" y="806824"/>
            <a:ext cx="530352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Suppose Price must never be negative.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This is one reason public properties are preferable to exposing fields directly.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We are previewing this idea; Milestone 0 does not require this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806824"/>
            <a:ext cx="5394960" cy="4662815"/>
          </a:xfrm>
          <a:prstGeom prst="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txBody>
          <a:bodyPr wrap="square" lIns="164592" tIns="137160" rIns="164592" bIns="137160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private decimal _price;</a:t>
            </a:r>
            <a:br>
              <a:rPr dirty="0"/>
            </a:br>
            <a:br>
              <a:rPr dirty="0"/>
            </a:br>
            <a:r>
              <a:rPr dirty="0"/>
              <a:t>public decimal Price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get { return _price; }</a:t>
            </a:r>
            <a:br>
              <a:rPr dirty="0"/>
            </a:br>
            <a:r>
              <a:rPr dirty="0"/>
              <a:t>    set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if (value &gt;= 0)</a:t>
            </a:r>
            <a:br>
              <a:rPr dirty="0"/>
            </a:br>
            <a:r>
              <a:rPr dirty="0"/>
              <a:t>            _price = value;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lang="en-US" dirty="0"/>
          </a:p>
          <a:p>
            <a:pPr>
              <a:defRPr sz="15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84264" y="0"/>
            <a:ext cx="36443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chemeClr val="bg1"/>
                </a:solidFill>
              </a:rPr>
              <a:t>The Unique ID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Every Product needs a unique internal identifier.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If each object independently starts its counter at zero, IDs would repeat.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We need one counter shared by all Product instances.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This introduces static members.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9156" y="0"/>
            <a:ext cx="18982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Our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070" y="831029"/>
            <a:ext cx="106984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sz="2800" dirty="0"/>
              <a:t>Every Product should receive a different ID.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sz="2800" dirty="0"/>
              <a:t>We want IDs such as 1, 2, 3, 4, ...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sz="2800" dirty="0"/>
              <a:t>We first need to understand why an ordinary counter does NOT solve the problem.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200"/>
            </a:pPr>
            <a:r>
              <a:rPr sz="2800" dirty="0"/>
              <a:t>Then we will introduce static—one concept at a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9585"/>
            <a:ext cx="63223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Step 1: Start With a Normal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5238974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For now, forget </a:t>
            </a:r>
            <a:r>
              <a:rPr sz="2800" dirty="0" err="1"/>
              <a:t>ProductID</a:t>
            </a:r>
            <a:r>
              <a:rPr sz="2800" dirty="0"/>
              <a:t>, </a:t>
            </a:r>
            <a:r>
              <a:rPr sz="2800" dirty="0" err="1"/>
              <a:t>NextID</a:t>
            </a:r>
            <a:r>
              <a:rPr sz="2800" dirty="0"/>
              <a:t>, getters, and property initializers.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We will use only one very simple field.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Counter is NOT static.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0" y="100584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2100">
                <a:solidFill>
                  <a:srgbClr val="191919"/>
                </a:solidFill>
                <a:latin typeface="Consolas"/>
              </a:defRPr>
            </a:pPr>
            <a:r>
              <a:rPr dirty="0"/>
              <a:t>public class </a:t>
            </a:r>
            <a:r>
              <a:rPr dirty="0" err="1"/>
              <a:t>Produc</a:t>
            </a:r>
            <a:r>
              <a:rPr dirty="0"/>
              <a:t>{</a:t>
            </a:r>
            <a:endParaRPr lang="en-US" dirty="0"/>
          </a:p>
          <a:p>
            <a:pPr algn="ctr">
              <a:defRPr sz="2100">
                <a:solidFill>
                  <a:srgbClr val="191919"/>
                </a:solidFill>
                <a:latin typeface="Consolas"/>
              </a:defRPr>
            </a:pPr>
            <a:br>
              <a:rPr dirty="0"/>
            </a:br>
            <a:r>
              <a:rPr dirty="0"/>
              <a:t>    public int Counter = 0;</a:t>
            </a:r>
            <a:endParaRPr lang="en-US" dirty="0"/>
          </a:p>
          <a:p>
            <a:pPr algn="ctr">
              <a:defRPr sz="2100">
                <a:solidFill>
                  <a:srgbClr val="191919"/>
                </a:solidFill>
                <a:latin typeface="Consolas"/>
              </a:defRPr>
            </a:pPr>
            <a:endParaRPr lang="en-US" dirty="0"/>
          </a:p>
          <a:p>
            <a:pPr algn="ctr">
              <a:defRPr sz="2100">
                <a:solidFill>
                  <a:srgbClr val="191919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9024" y="71140"/>
            <a:ext cx="51694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Create Three Product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070" y="914400"/>
            <a:ext cx="502920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We create three different objects from the same Product class.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Question for the class: How many Counter variables now exist?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128016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2000">
                <a:solidFill>
                  <a:srgbClr val="191919"/>
                </a:solidFill>
                <a:latin typeface="Consolas"/>
              </a:defRPr>
            </a:pPr>
            <a:r>
              <a:t>Product laptop = new Product();</a:t>
            </a:r>
            <a:br/>
            <a:r>
              <a:t>Product mouse = new Product();</a:t>
            </a:r>
            <a:br/>
            <a:r>
              <a:t>Product monitor = new Product();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5437" y="99509"/>
            <a:ext cx="43879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Answer: THREE Counters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</a:defRPr>
            </a:pPr>
            <a:r>
              <a:rPr dirty="0"/>
              <a:t>laptop object          </a:t>
            </a:r>
            <a:r>
              <a:rPr lang="en-US" dirty="0"/>
              <a:t>      </a:t>
            </a:r>
            <a:r>
              <a:rPr dirty="0"/>
              <a:t>mouse object          </a:t>
            </a:r>
            <a:r>
              <a:rPr lang="en-US" dirty="0"/>
              <a:t>    </a:t>
            </a:r>
            <a:r>
              <a:rPr dirty="0"/>
              <a:t>monitor object</a:t>
            </a:r>
            <a:br>
              <a:rPr dirty="0"/>
            </a:br>
            <a:r>
              <a:rPr dirty="0"/>
              <a:t>┌─────────────┐        ┌─────────────┐       ┌─────────────┐</a:t>
            </a:r>
            <a:br>
              <a:rPr dirty="0"/>
            </a:br>
            <a:r>
              <a:rPr dirty="0"/>
              <a:t>│ Counter = 0 │        │ Counter = 0 │       │ Counter = 0 │</a:t>
            </a:r>
            <a:br>
              <a:rPr dirty="0"/>
            </a:br>
            <a:r>
              <a:rPr dirty="0"/>
              <a:t>└─────────────┘        └─────────────┘       └─────────────┘</a:t>
            </a:r>
            <a:br>
              <a:rPr dirty="0"/>
            </a:br>
            <a:br>
              <a:rPr dirty="0"/>
            </a:br>
            <a:r>
              <a:rPr dirty="0"/>
              <a:t>3 objects  →  3 separate Counter variables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2814" y="0"/>
            <a:ext cx="73802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Prove That the Counters Are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5" y="898264"/>
            <a:ext cx="493776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Increment only </a:t>
            </a:r>
            <a:r>
              <a:rPr sz="2800" dirty="0" err="1"/>
              <a:t>laptop.Counter</a:t>
            </a:r>
            <a:r>
              <a:rPr sz="2800" dirty="0"/>
              <a:t>.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The mouse and monitor counters do not change.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That proves Counter belongs to each individual object.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559" y="898264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800">
                <a:solidFill>
                  <a:srgbClr val="191919"/>
                </a:solidFill>
                <a:latin typeface="Consolas"/>
              </a:defRPr>
            </a:pPr>
            <a:r>
              <a:rPr dirty="0" err="1"/>
              <a:t>laptop.Counter</a:t>
            </a:r>
            <a:r>
              <a:rPr dirty="0"/>
              <a:t>++;</a:t>
            </a:r>
            <a:br>
              <a:rPr dirty="0"/>
            </a:br>
            <a:br>
              <a:rPr dirty="0"/>
            </a:br>
            <a:r>
              <a:rPr dirty="0" err="1"/>
              <a:t>Console.WriteLine</a:t>
            </a:r>
            <a:r>
              <a:rPr dirty="0"/>
              <a:t>(</a:t>
            </a:r>
            <a:r>
              <a:rPr dirty="0" err="1"/>
              <a:t>laptop.Counter</a:t>
            </a:r>
            <a:r>
              <a:rPr dirty="0"/>
              <a:t>);</a:t>
            </a:r>
            <a:br>
              <a:rPr lang="en-US" dirty="0"/>
            </a:br>
            <a:r>
              <a:rPr dirty="0" err="1"/>
              <a:t>Console.WriteLine</a:t>
            </a:r>
            <a:r>
              <a:rPr dirty="0"/>
              <a:t>(</a:t>
            </a:r>
            <a:r>
              <a:rPr dirty="0" err="1"/>
              <a:t>mouse.Counter</a:t>
            </a:r>
            <a:r>
              <a:rPr dirty="0"/>
              <a:t>);</a:t>
            </a:r>
            <a:br>
              <a:rPr dirty="0"/>
            </a:br>
            <a:r>
              <a:rPr dirty="0" err="1"/>
              <a:t>Console.WriteLine</a:t>
            </a:r>
            <a:r>
              <a:rPr dirty="0"/>
              <a:t>(</a:t>
            </a:r>
            <a:r>
              <a:rPr dirty="0" err="1"/>
              <a:t>monitor.Counter</a:t>
            </a: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3968" y="0"/>
            <a:ext cx="34138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F784B"/>
                </a:solidFill>
              </a:defRPr>
            </a:pPr>
            <a:r>
              <a:rPr lang="en-US" dirty="0"/>
              <a:t>Laptop Counter: </a:t>
            </a:r>
            <a:r>
              <a:rPr dirty="0"/>
              <a:t>1</a:t>
            </a:r>
            <a:br>
              <a:rPr dirty="0"/>
            </a:br>
            <a:r>
              <a:rPr lang="en-US" dirty="0"/>
              <a:t>Mouse Counter: </a:t>
            </a:r>
            <a:r>
              <a:rPr dirty="0"/>
              <a:t>0</a:t>
            </a:r>
            <a:br>
              <a:rPr dirty="0"/>
            </a:br>
            <a:r>
              <a:rPr lang="en-US" dirty="0"/>
              <a:t>Monitor Counter: </a:t>
            </a:r>
            <a:r>
              <a:rPr dirty="0"/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F45"/>
                </a:solidFill>
              </a:defRPr>
            </a:pPr>
            <a:r>
              <a:t>Only the laptop's Counter changed.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0612" y="0"/>
            <a:ext cx="78661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If Every Product Increments Its Own Counter?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30476" y="1062317"/>
            <a:ext cx="54864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800">
                <a:solidFill>
                  <a:srgbClr val="191919"/>
                </a:solidFill>
                <a:latin typeface="Consolas"/>
              </a:defRPr>
            </a:pPr>
            <a:r>
              <a:t>laptop.Counter++;</a:t>
            </a:r>
            <a:br/>
            <a:r>
              <a:t>mouse.Counter++;</a:t>
            </a:r>
            <a:br/>
            <a:r>
              <a:t>monitor.Counter++;</a:t>
            </a:r>
            <a:br/>
            <a:br/>
            <a:r>
              <a:t>Console.WriteLine(laptop.Counter);</a:t>
            </a:r>
            <a:br/>
            <a:r>
              <a:t>Console.WriteLine(mouse.Counter);</a:t>
            </a:r>
            <a:br/>
            <a:r>
              <a:t>Console.WriteLine(monitor.Counter);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4378" y="0"/>
            <a:ext cx="44289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The Real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F45"/>
                </a:solidFill>
              </a:defRPr>
            </a:pPr>
            <a:r>
              <a:t>We do NOT want:</a:t>
            </a:r>
            <a:br/>
            <a:br/>
            <a:r>
              <a:t>3 objects → 3 counters</a:t>
            </a:r>
            <a:br/>
            <a:br/>
            <a:r>
              <a:t>We want:</a:t>
            </a:r>
            <a:br/>
            <a:br/>
            <a:r>
              <a:t>ALL Product objects → ONE shared counter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6156" y="0"/>
            <a:ext cx="51277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Step 2: Change ONE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93776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Add the keyword static.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Counter now belongs to the Product class rather than to each individual Product object.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2124" y="102870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2100">
                <a:solidFill>
                  <a:srgbClr val="191919"/>
                </a:solidFill>
                <a:latin typeface="Consolas"/>
              </a:defRPr>
            </a:pPr>
            <a:r>
              <a:t>public class Product</a:t>
            </a:r>
            <a:br/>
            <a:r>
              <a:t>{</a:t>
            </a:r>
            <a:br/>
            <a:r>
              <a:t>    public static int Counter =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39496" y="126403"/>
            <a:ext cx="32074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static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</a:defRPr>
            </a:pPr>
            <a:r>
              <a:rPr dirty="0"/>
              <a:t>WITHOUT static</a:t>
            </a:r>
            <a:br>
              <a:rPr dirty="0"/>
            </a:br>
            <a:br>
              <a:rPr dirty="0"/>
            </a:br>
            <a:r>
              <a:rPr dirty="0"/>
              <a:t>laptop            mouse             monitor</a:t>
            </a:r>
            <a:br>
              <a:rPr dirty="0"/>
            </a:br>
            <a:r>
              <a:rPr dirty="0"/>
              <a:t>Counter = 0       Counter = 0       Counter = 0</a:t>
            </a:r>
            <a:br>
              <a:rPr dirty="0"/>
            </a:br>
            <a:br>
              <a:rPr dirty="0"/>
            </a:br>
            <a:endParaRPr lang="en-US" dirty="0"/>
          </a:p>
          <a:p>
            <a:pPr algn="ctr">
              <a:defRPr sz="2000" b="1">
                <a:solidFill>
                  <a:srgbClr val="191919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191919"/>
                </a:solidFill>
              </a:defRPr>
            </a:pPr>
            <a:r>
              <a:rPr dirty="0"/>
              <a:t>WITH static</a:t>
            </a:r>
            <a:br>
              <a:rPr dirty="0"/>
            </a:br>
            <a:br>
              <a:rPr dirty="0"/>
            </a:br>
            <a:r>
              <a:rPr dirty="0"/>
              <a:t>       Product CLASS</a:t>
            </a:r>
            <a:br>
              <a:rPr dirty="0"/>
            </a:br>
            <a:r>
              <a:rPr dirty="0"/>
              <a:t>               ┌─────────────┐</a:t>
            </a:r>
            <a:br>
              <a:rPr dirty="0"/>
            </a:br>
            <a:r>
              <a:rPr dirty="0"/>
              <a:t>            │ Counter = 0 │</a:t>
            </a:r>
            <a:br>
              <a:rPr dirty="0"/>
            </a:br>
            <a:r>
              <a:rPr dirty="0"/>
              <a:t>               └─────────────┘</a:t>
            </a:r>
            <a:br>
              <a:rPr dirty="0"/>
            </a:br>
            <a:r>
              <a:rPr dirty="0"/>
              <a:t>                     ↑</a:t>
            </a:r>
            <a:br>
              <a:rPr dirty="0"/>
            </a:br>
            <a:r>
              <a:rPr dirty="0"/>
              <a:t>               ONE shared value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t>Accessing a Static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Because Counter belongs to the Product class, access it through the class name.</a:t>
            </a:r>
          </a:p>
          <a:p>
            <a:pPr>
              <a:spcAft>
                <a:spcPts val="1000"/>
              </a:spcAft>
              <a:defRPr sz="2000"/>
            </a:pPr>
            <a:r>
              <a:t>Notice: Product.Counter—not laptop.Counter.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128016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700">
                <a:solidFill>
                  <a:srgbClr val="191919"/>
                </a:solidFill>
                <a:latin typeface="Consolas"/>
              </a:defRPr>
            </a:pPr>
            <a:r>
              <a:t>Console.WriteLine(Product.Counter);</a:t>
            </a:r>
            <a:br/>
            <a:br/>
            <a:r>
              <a:t>Product.Counter++;</a:t>
            </a:r>
            <a:br/>
            <a:r>
              <a:t>Console.WriteLine(Product.Counter);</a:t>
            </a:r>
            <a:br/>
            <a:br/>
            <a:r>
              <a:t>Product.Counter++;</a:t>
            </a:r>
            <a:br/>
            <a:r>
              <a:t>Console.WriteLine(Product.Counter);</a:t>
            </a:r>
            <a:br/>
            <a:br/>
            <a:r>
              <a:t>Product.Counter++;</a:t>
            </a:r>
            <a:br/>
            <a:r>
              <a:t>Console.WriteLine(Product.Counter);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254020"/>
            <a:ext cx="78629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Step 3: Build a 'Give Me the Next Number'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3893" y="874564"/>
            <a:ext cx="484632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 err="1"/>
              <a:t>NextID</a:t>
            </a:r>
            <a:r>
              <a:rPr sz="2800" dirty="0"/>
              <a:t> is a static property because it works with the shared static counter.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When </a:t>
            </a:r>
            <a:r>
              <a:rPr sz="2800" dirty="0" err="1"/>
              <a:t>NextID</a:t>
            </a:r>
            <a:r>
              <a:rPr sz="2800" dirty="0"/>
              <a:t> is read, its getter increments _</a:t>
            </a:r>
            <a:r>
              <a:rPr sz="2800" dirty="0" err="1"/>
              <a:t>nextID</a:t>
            </a:r>
            <a:r>
              <a:rPr sz="2800" dirty="0"/>
              <a:t> and returns the new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128016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900">
                <a:solidFill>
                  <a:srgbClr val="191919"/>
                </a:solidFill>
                <a:latin typeface="Consolas"/>
              </a:defRPr>
            </a:pPr>
            <a:r>
              <a:t>public static long NextID</a:t>
            </a:r>
            <a:br/>
            <a:r>
              <a:t>{</a:t>
            </a:r>
            <a:br/>
            <a:r>
              <a:t>    get</a:t>
            </a:r>
            <a:br/>
            <a:r>
              <a:t>    {</a:t>
            </a:r>
            <a:br/>
            <a:r>
              <a:t>        _nextID++;</a:t>
            </a:r>
            <a:br/>
            <a:r>
              <a:t>        return _nextID;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6497" y="0"/>
            <a:ext cx="39393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Understanding the getter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F45"/>
                </a:solidFill>
              </a:defRPr>
            </a:pPr>
            <a:r>
              <a:t>When somebody asks for NextID:</a:t>
            </a:r>
            <a:br/>
            <a:br/>
            <a:r>
              <a:t>1. Increase the ONE shared _nextID counter.</a:t>
            </a:r>
            <a:br/>
            <a:br/>
            <a:r>
              <a:t>2. Return the new number.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097" y="112955"/>
            <a:ext cx="6515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>
                <a:solidFill>
                  <a:schemeClr val="bg1"/>
                </a:solidFill>
              </a:rPr>
              <a:t>Trace NextID Without Any Product Objects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2137" y="1255955"/>
            <a:ext cx="566928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900">
                <a:solidFill>
                  <a:srgbClr val="191919"/>
                </a:solidFill>
                <a:latin typeface="Consolas"/>
              </a:defRPr>
            </a:pPr>
            <a:r>
              <a:rPr dirty="0" err="1">
                <a:solidFill>
                  <a:schemeClr val="tx1"/>
                </a:solidFill>
              </a:rPr>
              <a:t>Console.WriteLine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Product.NextID</a:t>
            </a:r>
            <a:r>
              <a:rPr dirty="0">
                <a:solidFill>
                  <a:schemeClr val="tx1"/>
                </a:solidFill>
              </a:rPr>
              <a:t>);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Console.WriteLine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Product.NextID</a:t>
            </a:r>
            <a:r>
              <a:rPr dirty="0">
                <a:solidFill>
                  <a:schemeClr val="tx1"/>
                </a:solidFill>
              </a:rPr>
              <a:t>);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Console.WriteLine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Product.NextID</a:t>
            </a:r>
            <a:r>
              <a:rPr dirty="0">
                <a:solidFill>
                  <a:schemeClr val="tx1"/>
                </a:solidFill>
              </a:rPr>
              <a:t>);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Console.WriteLine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Product.NextID</a:t>
            </a:r>
            <a:r>
              <a:rPr dirty="0">
                <a:solidFill>
                  <a:schemeClr val="tx1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2437" y="112956"/>
            <a:ext cx="7146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Important: We Have Built a Number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F45"/>
                </a:solidFill>
              </a:defRPr>
            </a:pPr>
            <a:r>
              <a:t>Product.NextID → 1</a:t>
            </a:r>
            <a:br/>
            <a:br/>
            <a:r>
              <a:t>Product.NextID → 2</a:t>
            </a:r>
            <a:br/>
            <a:br/>
            <a:r>
              <a:t>Product.NextID → 3</a:t>
            </a:r>
            <a:br/>
            <a:br/>
            <a:r>
              <a:t>Product.NextID →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919"/>
                </a:solidFill>
              </a:defRPr>
            </a:pPr>
            <a:r>
              <a:t>We still have not assigned those numbers to Product objects.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5543" y="0"/>
            <a:ext cx="77154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Step 4: Give Each Product Its Own </a:t>
            </a:r>
            <a:r>
              <a:rPr sz="3200" dirty="0" err="1">
                <a:solidFill>
                  <a:schemeClr val="bg1"/>
                </a:solidFill>
              </a:rPr>
              <a:t>ProductID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8941" y="898264"/>
            <a:ext cx="493776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Now we need each Product object to remember the number it receives.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 err="1"/>
              <a:t>ProductID</a:t>
            </a:r>
            <a:r>
              <a:rPr sz="2800" dirty="0"/>
              <a:t> is an instance property—not static.</a:t>
            </a:r>
            <a:endParaRPr lang="en-US"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Its initial value comes from the shared </a:t>
            </a:r>
            <a:r>
              <a:rPr sz="2800" dirty="0" err="1"/>
              <a:t>NextID</a:t>
            </a:r>
            <a:r>
              <a:rPr sz="2800" dirty="0"/>
              <a:t> generator.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1280160"/>
            <a:ext cx="5394960" cy="480060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2200">
                <a:solidFill>
                  <a:srgbClr val="191919"/>
                </a:solidFill>
                <a:latin typeface="Consolas"/>
              </a:defRPr>
            </a:pPr>
            <a:r>
              <a:t>public long ProductID { get; } = NextID;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744" y="0"/>
            <a:ext cx="54715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Read </a:t>
            </a:r>
            <a:r>
              <a:rPr sz="3200" dirty="0" err="1">
                <a:solidFill>
                  <a:schemeClr val="bg1"/>
                </a:solidFill>
              </a:rPr>
              <a:t>ProductID</a:t>
            </a:r>
            <a:r>
              <a:rPr sz="3200" dirty="0">
                <a:solidFill>
                  <a:schemeClr val="bg1"/>
                </a:solidFill>
              </a:rPr>
              <a:t> 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2F45"/>
                </a:solidFill>
              </a:defRPr>
            </a:pPr>
            <a:r>
              <a:rPr dirty="0"/>
              <a:t>public long </a:t>
            </a:r>
            <a:r>
              <a:rPr dirty="0" err="1"/>
              <a:t>ProductID</a:t>
            </a:r>
            <a:r>
              <a:rPr dirty="0"/>
              <a:t> { get; } = </a:t>
            </a:r>
            <a:r>
              <a:rPr dirty="0" err="1"/>
              <a:t>NextID</a:t>
            </a:r>
            <a:r>
              <a:rPr dirty="0"/>
              <a:t>;</a:t>
            </a:r>
            <a:br>
              <a:rPr dirty="0"/>
            </a:br>
            <a:br>
              <a:rPr dirty="0"/>
            </a:br>
            <a:r>
              <a:rPr dirty="0"/>
              <a:t>means:</a:t>
            </a:r>
            <a:br>
              <a:rPr dirty="0"/>
            </a:br>
            <a:br>
              <a:rPr dirty="0"/>
            </a:br>
            <a:r>
              <a:rPr dirty="0"/>
              <a:t>“When this Product object is created,</a:t>
            </a:r>
            <a:br>
              <a:rPr dirty="0"/>
            </a:br>
            <a:r>
              <a:rPr dirty="0"/>
              <a:t>ask the shared number generator for the next number,</a:t>
            </a:r>
            <a:br>
              <a:rPr dirty="0"/>
            </a:br>
            <a:r>
              <a:rPr dirty="0"/>
              <a:t>and store that number as THIS Product's ID.”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8873" y="0"/>
            <a:ext cx="469551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Complete Product 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7431" y="868680"/>
            <a:ext cx="10058400" cy="512064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800">
                <a:solidFill>
                  <a:srgbClr val="191919"/>
                </a:solidFill>
                <a:latin typeface="Consolas"/>
              </a:defRPr>
            </a:pPr>
            <a:r>
              <a:rPr dirty="0"/>
              <a:t>public class Product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private static long _</a:t>
            </a:r>
            <a:r>
              <a:rPr dirty="0" err="1"/>
              <a:t>nextID</a:t>
            </a:r>
            <a:r>
              <a:rPr dirty="0"/>
              <a:t> = 0;</a:t>
            </a:r>
            <a:br>
              <a:rPr dirty="0"/>
            </a:br>
            <a:br>
              <a:rPr dirty="0"/>
            </a:br>
            <a:r>
              <a:rPr dirty="0"/>
              <a:t>    public static long </a:t>
            </a:r>
            <a:r>
              <a:rPr dirty="0" err="1"/>
              <a:t>NextID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get</a:t>
            </a:r>
            <a:br>
              <a:rPr dirty="0"/>
            </a:br>
            <a:r>
              <a:rPr dirty="0"/>
              <a:t>        {</a:t>
            </a:r>
            <a:br>
              <a:rPr dirty="0"/>
            </a:br>
            <a:r>
              <a:rPr dirty="0"/>
              <a:t>            _</a:t>
            </a:r>
            <a:r>
              <a:rPr dirty="0" err="1"/>
              <a:t>nextID</a:t>
            </a:r>
            <a:r>
              <a:rPr dirty="0"/>
              <a:t>++;</a:t>
            </a:r>
            <a:br>
              <a:rPr dirty="0"/>
            </a:br>
            <a:r>
              <a:rPr dirty="0"/>
              <a:t>            return _</a:t>
            </a:r>
            <a:r>
              <a:rPr dirty="0" err="1"/>
              <a:t>nextID</a:t>
            </a:r>
            <a:r>
              <a:rPr dirty="0"/>
              <a:t>;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public long </a:t>
            </a:r>
            <a:r>
              <a:rPr dirty="0" err="1"/>
              <a:t>ProductID</a:t>
            </a:r>
            <a:r>
              <a:rPr dirty="0"/>
              <a:t> { get; } = </a:t>
            </a:r>
            <a:r>
              <a:rPr dirty="0" err="1"/>
              <a:t>NextID</a:t>
            </a:r>
            <a:r>
              <a:rPr dirty="0"/>
              <a:t>;</a:t>
            </a:r>
            <a:br>
              <a:rPr dirty="0"/>
            </a:b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4002" y="0"/>
            <a:ext cx="38974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Complete Demo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822960"/>
            <a:ext cx="10607040" cy="5212080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37160" rtlCol="0" anchor="ctr"/>
          <a:lstStyle/>
          <a:p>
            <a:pPr algn="ctr">
              <a:defRPr sz="1600">
                <a:solidFill>
                  <a:srgbClr val="191919"/>
                </a:solidFill>
                <a:latin typeface="Consolas"/>
              </a:defRPr>
            </a:pPr>
            <a:r>
              <a:rPr dirty="0"/>
              <a:t>Product laptop = new Product();</a:t>
            </a:r>
            <a:br>
              <a:rPr dirty="0"/>
            </a:br>
            <a:r>
              <a:rPr dirty="0"/>
              <a:t>Product mouse = new Product();</a:t>
            </a:r>
            <a:br>
              <a:rPr dirty="0"/>
            </a:br>
            <a:r>
              <a:rPr dirty="0"/>
              <a:t>Product monitor = new Product();</a:t>
            </a:r>
            <a:br>
              <a:rPr dirty="0"/>
            </a:br>
            <a:br>
              <a:rPr dirty="0"/>
            </a:br>
            <a:r>
              <a:rPr dirty="0" err="1"/>
              <a:t>laptop.ProductName</a:t>
            </a:r>
            <a:r>
              <a:rPr dirty="0"/>
              <a:t> = "Gaming Laptop";</a:t>
            </a:r>
            <a:br>
              <a:rPr dirty="0"/>
            </a:br>
            <a:r>
              <a:rPr dirty="0" err="1"/>
              <a:t>mouse.ProductName</a:t>
            </a:r>
            <a:r>
              <a:rPr dirty="0"/>
              <a:t> = "Wireless Mouse";</a:t>
            </a:r>
            <a:br>
              <a:rPr dirty="0"/>
            </a:br>
            <a:r>
              <a:rPr dirty="0" err="1"/>
              <a:t>monitor.ProductName</a:t>
            </a:r>
            <a:r>
              <a:rPr dirty="0"/>
              <a:t> = "27-inch Monitor";</a:t>
            </a:r>
            <a:br>
              <a:rPr dirty="0"/>
            </a:br>
            <a:br>
              <a:rPr dirty="0"/>
            </a:br>
            <a:r>
              <a:rPr dirty="0" err="1"/>
              <a:t>Console.WriteLine</a:t>
            </a:r>
            <a:r>
              <a:rPr dirty="0"/>
              <a:t>($"{</a:t>
            </a:r>
            <a:r>
              <a:rPr dirty="0" err="1"/>
              <a:t>laptop.ProductName</a:t>
            </a:r>
            <a:r>
              <a:rPr dirty="0"/>
              <a:t>} - ID: {</a:t>
            </a:r>
            <a:r>
              <a:rPr dirty="0" err="1"/>
              <a:t>laptop.ProductID</a:t>
            </a:r>
            <a:r>
              <a:rPr dirty="0"/>
              <a:t>}");</a:t>
            </a:r>
            <a:br>
              <a:rPr dirty="0"/>
            </a:br>
            <a:r>
              <a:rPr dirty="0" err="1"/>
              <a:t>Console.WriteLine</a:t>
            </a:r>
            <a:r>
              <a:rPr dirty="0"/>
              <a:t>($"{</a:t>
            </a:r>
            <a:r>
              <a:rPr dirty="0" err="1"/>
              <a:t>mouse.ProductName</a:t>
            </a:r>
            <a:r>
              <a:rPr dirty="0"/>
              <a:t>} - ID: {</a:t>
            </a:r>
            <a:r>
              <a:rPr dirty="0" err="1"/>
              <a:t>mouse.ProductID</a:t>
            </a:r>
            <a:r>
              <a:rPr dirty="0"/>
              <a:t>}");</a:t>
            </a:r>
            <a:br>
              <a:rPr dirty="0"/>
            </a:br>
            <a:r>
              <a:rPr dirty="0" err="1"/>
              <a:t>Console.WriteLine</a:t>
            </a:r>
            <a:r>
              <a:rPr dirty="0"/>
              <a:t>($"{</a:t>
            </a:r>
            <a:r>
              <a:rPr dirty="0" err="1"/>
              <a:t>monitor.ProductName</a:t>
            </a:r>
            <a:r>
              <a:rPr dirty="0"/>
              <a:t>} - ID: {</a:t>
            </a:r>
            <a:r>
              <a:rPr dirty="0" err="1"/>
              <a:t>monitor.ProductID</a:t>
            </a:r>
            <a:r>
              <a:rPr dirty="0"/>
              <a:t>}");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2637" y="112956"/>
            <a:ext cx="3221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F45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784B"/>
                </a:solidFill>
              </a:defRPr>
            </a:pPr>
            <a:r>
              <a:t>Gaming Laptop - ID: 1</a:t>
            </a:r>
            <a:br/>
            <a:r>
              <a:t>Wireless Mouse - ID: 2</a:t>
            </a:r>
            <a:br/>
            <a:r>
              <a:t>27-inch Monitor - ID: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7370" y="-12870"/>
            <a:ext cx="513364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Git: Why Version Control?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Git records the evolution of a project.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It gives us meaningful checkpoints instead of folders named Final, Final2, </a:t>
            </a:r>
            <a:r>
              <a:rPr sz="2800" dirty="0" err="1"/>
              <a:t>FinalReallyFinal</a:t>
            </a:r>
            <a:r>
              <a:rPr sz="2800" dirty="0"/>
              <a:t>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It supports parallel work through branches.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Git is local; GitHub/Classroom 50 provides remote collaboration/distribution.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9146" y="57926"/>
            <a:ext cx="55628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Local vs. Remote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Local repository: lives on your development machine.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Remote repository: hosted on a service such as GitHub.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push sends commits from local to remote.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pull/fetch help bring remote history to the local repository.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24498" y="84384"/>
            <a:ext cx="12715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Clone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7109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git clone creates a local repository from an existing remote repository.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It brings down project files and Git history.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The cloned repository knows its remote origin.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62487" y="0"/>
            <a:ext cx="34957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Feature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80"/>
            <a:ext cx="9991165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main should represent the integrated line of development.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feature branch gives us a separate place to make milestone changes.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We can build, check, and commit work before integrating it back into main.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90334" y="0"/>
            <a:ext cx="21280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>
                <a:solidFill>
                  <a:schemeClr val="bg1"/>
                </a:solidFill>
              </a:rPr>
              <a:t>git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80"/>
            <a:ext cx="1070385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git status tells you what Git currently sees.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Use it frequently.</a:t>
            </a:r>
            <a:endParaRPr lang="en-US"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457200" indent="-4572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It helps answer: What branch am I on? What changed? What is staged? Is my working tree clean?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21393" y="0"/>
            <a:ext cx="186942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>
                <a:solidFill>
                  <a:schemeClr val="bg1"/>
                </a:solidFill>
              </a:rPr>
              <a:t>Commit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6351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commit records a checkpoint in the local repository.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Use a meaningful message describing the change.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commit is not the same as a push.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6923" y="179454"/>
            <a:ext cx="2154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solidFill>
                  <a:schemeClr val="bg1"/>
                </a:solidFill>
              </a:rPr>
              <a:t>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80"/>
            <a:ext cx="10529047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git push transfers local commits to the remote repository.</a:t>
            </a:r>
            <a:endParaRPr lang="en-US" sz="2800" dirty="0"/>
          </a:p>
          <a:p>
            <a:pPr>
              <a:spcAft>
                <a:spcPts val="900"/>
              </a:spcAft>
              <a:defRPr sz="2000"/>
            </a:pPr>
            <a:endParaRPr sz="2800" dirty="0"/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The first push of a new branch may need an upstream relationship.</a:t>
            </a:r>
            <a:endParaRPr lang="en-US" sz="2800" dirty="0"/>
          </a:p>
          <a:p>
            <a:pPr>
              <a:spcAft>
                <a:spcPts val="900"/>
              </a:spcAft>
              <a:defRPr sz="2000"/>
            </a:pPr>
            <a:endParaRPr sz="2800" dirty="0"/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After pushing, the remote has a copy of the committed branch history.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10404" y="0"/>
            <a:ext cx="15645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>
                <a:solidFill>
                  <a:schemeClr val="bg1"/>
                </a:solidFill>
              </a:rPr>
              <a:t>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097279"/>
            <a:ext cx="10125635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After the feature work is complete, switch back to main.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Merge integrates the feature branch's work into main.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Build/check before declaring the milestone finished.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Push main after the merge.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35593" y="0"/>
            <a:ext cx="16607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solidFill>
                  <a:schemeClr val="bg1"/>
                </a:solidFill>
              </a:rPr>
              <a:t>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commit is a development checkpoint.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A release marks a meaningful named/versioned state of the software.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Milestones can correspond to releases.</a:t>
            </a:r>
            <a:endParaRPr lang="en-US"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endParaRPr sz="2800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The release should point to the integrated code on main.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34640" y="0"/>
            <a:ext cx="59901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200" dirty="0">
                <a:solidFill>
                  <a:schemeClr val="bg1"/>
                </a:solidFill>
              </a:rPr>
              <a:t>Complete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sz="2800" dirty="0"/>
              <a:t>1. Clone the repository.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2. Create and switch to a feature branch.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3. Make code changes.</a:t>
            </a:r>
          </a:p>
          <a:p>
            <a:pPr>
              <a:spcAft>
                <a:spcPts val="900"/>
              </a:spcAft>
              <a:defRPr sz="2000"/>
            </a:pPr>
            <a:r>
              <a:rPr sz="2800" dirty="0"/>
              <a:t>4. Build and check the solution.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5</a:t>
            </a:r>
            <a:r>
              <a:rPr sz="2800" dirty="0"/>
              <a:t>. Commit changes.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6</a:t>
            </a:r>
            <a:r>
              <a:rPr sz="2800" dirty="0"/>
              <a:t>. Push the feature branch.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7</a:t>
            </a:r>
            <a:r>
              <a:rPr sz="2800" dirty="0"/>
              <a:t>. Merge into main.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8</a:t>
            </a:r>
            <a:r>
              <a:rPr sz="2800" dirty="0"/>
              <a:t>. Push main.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2800" dirty="0"/>
              <a:t>9</a:t>
            </a:r>
            <a:r>
              <a:rPr sz="2800" dirty="0"/>
              <a:t>. Create the release.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E4BE4-B021-1762-53EB-D66FA7CA0905}"/>
              </a:ext>
            </a:extLst>
          </p:cNvPr>
          <p:cNvSpPr txBox="1"/>
          <p:nvPr/>
        </p:nvSpPr>
        <p:spPr>
          <a:xfrm>
            <a:off x="3049121" y="3029181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1800" dirty="0">
                <a:solidFill>
                  <a:schemeClr val="bg1"/>
                </a:solidFill>
              </a:rPr>
              <a:t>Complete Development Workflow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00369" y="0"/>
            <a:ext cx="235673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>
                <a:solidFill>
                  <a:schemeClr val="bg1"/>
                </a:solidFill>
              </a:rPr>
              <a:t>Exit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69848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explain class vs. object?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identify a field versus a property?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explain get and set?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explain static versus instance?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trace the ID counter?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Can you explain add → commit → push → merge?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/>
              <a:t>If yes, you are ready to transfer these ideas to Milestone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u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S 115" id="{7EDE166B-13BF-4056-97B3-75D27B7E17DA}" vid="{D6DB819F-F053-49DC-9778-D3E949FDF6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_template-cs</Template>
  <TotalTime>10148</TotalTime>
  <Words>2022</Words>
  <Application>Microsoft Office PowerPoint</Application>
  <PresentationFormat>Widescreen</PresentationFormat>
  <Paragraphs>251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ksu theme</vt:lpstr>
      <vt:lpstr>Milestone 0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Adjacency Matrix</dc:title>
  <dc:creator>Josh Weese</dc:creator>
  <cp:lastModifiedBy>Friday James</cp:lastModifiedBy>
  <cp:revision>86</cp:revision>
  <dcterms:created xsi:type="dcterms:W3CDTF">2017-11-27T16:17:33Z</dcterms:created>
  <dcterms:modified xsi:type="dcterms:W3CDTF">2026-08-31T17:00:23Z</dcterms:modified>
</cp:coreProperties>
</file>