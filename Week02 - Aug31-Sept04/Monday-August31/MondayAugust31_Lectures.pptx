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9"/>
  </p:notesMasterIdLst>
  <p:sldIdLst>
    <p:sldId id="380" r:id="rId2"/>
    <p:sldId id="379" r:id="rId3"/>
    <p:sldId id="335" r:id="rId4"/>
    <p:sldId id="338" r:id="rId5"/>
    <p:sldId id="339" r:id="rId6"/>
    <p:sldId id="340" r:id="rId7"/>
    <p:sldId id="264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280" r:id="rId18"/>
    <p:sldId id="281" r:id="rId19"/>
    <p:sldId id="282" r:id="rId20"/>
    <p:sldId id="283" r:id="rId21"/>
    <p:sldId id="352" r:id="rId22"/>
    <p:sldId id="353" r:id="rId23"/>
    <p:sldId id="354" r:id="rId24"/>
    <p:sldId id="289" r:id="rId25"/>
    <p:sldId id="355" r:id="rId26"/>
    <p:sldId id="357" r:id="rId27"/>
    <p:sldId id="358" r:id="rId28"/>
    <p:sldId id="295" r:id="rId29"/>
    <p:sldId id="361" r:id="rId30"/>
    <p:sldId id="362" r:id="rId31"/>
    <p:sldId id="363" r:id="rId32"/>
    <p:sldId id="364" r:id="rId33"/>
    <p:sldId id="301" r:id="rId34"/>
    <p:sldId id="304" r:id="rId35"/>
    <p:sldId id="305" r:id="rId36"/>
    <p:sldId id="307" r:id="rId37"/>
    <p:sldId id="309" r:id="rId38"/>
    <p:sldId id="366" r:id="rId39"/>
    <p:sldId id="311" r:id="rId40"/>
    <p:sldId id="367" r:id="rId41"/>
    <p:sldId id="370" r:id="rId42"/>
    <p:sldId id="372" r:id="rId43"/>
    <p:sldId id="327" r:id="rId44"/>
    <p:sldId id="328" r:id="rId45"/>
    <p:sldId id="330" r:id="rId46"/>
    <p:sldId id="331" r:id="rId47"/>
    <p:sldId id="378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2920" autoAdjust="0"/>
  </p:normalViewPr>
  <p:slideViewPr>
    <p:cSldViewPr snapToGrid="0">
      <p:cViewPr>
        <p:scale>
          <a:sx n="57" d="100"/>
          <a:sy n="57" d="100"/>
        </p:scale>
        <p:origin x="77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5A3C1-EAE4-4E64-843B-37C9F613D4A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2658B-1600-4AEB-88D6-E6D50E318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4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2658B-1600-4AEB-88D6-E6D50E3184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92658B-1600-4AEB-88D6-E6D50E3184A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94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16105" y="6337598"/>
            <a:ext cx="2844800" cy="365125"/>
          </a:xfrm>
        </p:spPr>
        <p:txBody>
          <a:bodyPr/>
          <a:lstStyle/>
          <a:p>
            <a:fld id="{ECF12D5F-C0E9-43E4-B204-B6004AF6CFF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5125" y="6337599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185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9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847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02839-496B-4E84-B207-94A0A35EE08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21600" y="632696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08536" y="165915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D95779-7F80-4C85-8F95-26994BC33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5" y="6153196"/>
            <a:ext cx="5297864" cy="6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4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55721" y="6337599"/>
            <a:ext cx="2844800" cy="365125"/>
          </a:xfrm>
        </p:spPr>
        <p:txBody>
          <a:bodyPr/>
          <a:lstStyle/>
          <a:p>
            <a:fld id="{168028F9-E915-4DB3-94D4-DE121F29E0F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83908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99908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3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2782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0227" y="6347074"/>
            <a:ext cx="2844800" cy="365125"/>
          </a:xfrm>
        </p:spPr>
        <p:txBody>
          <a:bodyPr/>
          <a:lstStyle/>
          <a:p>
            <a:fld id="{4B5B81A6-DB36-4741-8CD6-F7FBAAABF3B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18415" y="6347075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34415" y="145800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8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2782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0227" y="6356351"/>
            <a:ext cx="2844800" cy="365125"/>
          </a:xfrm>
        </p:spPr>
        <p:txBody>
          <a:bodyPr/>
          <a:lstStyle/>
          <a:p>
            <a:fld id="{D5AF6FFD-3AC2-4F69-BE1B-7719243D3EA2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127041" y="635635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3041" y="16259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2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755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55721" y="6338916"/>
            <a:ext cx="2844800" cy="365125"/>
          </a:xfrm>
        </p:spPr>
        <p:txBody>
          <a:bodyPr/>
          <a:lstStyle/>
          <a:p>
            <a:fld id="{5EE139DB-B7A2-4601-9BAB-3432B380BBA7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5283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91283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2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81600" y="6321664"/>
            <a:ext cx="2844800" cy="365125"/>
          </a:xfrm>
        </p:spPr>
        <p:txBody>
          <a:bodyPr/>
          <a:lstStyle/>
          <a:p>
            <a:fld id="{21E7DF24-40FE-47C4-8D7B-FCC6470D08E8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78800" y="6321664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94800" y="171211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6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07479" y="6308728"/>
            <a:ext cx="2844800" cy="365125"/>
          </a:xfrm>
        </p:spPr>
        <p:txBody>
          <a:bodyPr/>
          <a:lstStyle/>
          <a:p>
            <a:fld id="{53F2D3B9-3066-470E-9529-47ECCF8D556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74566" y="6308728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20679" y="90487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0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24732" y="6337990"/>
            <a:ext cx="2844800" cy="365125"/>
          </a:xfrm>
        </p:spPr>
        <p:txBody>
          <a:bodyPr/>
          <a:lstStyle/>
          <a:p>
            <a:fld id="{90035843-31B5-4BFA-8529-8CC819254A67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70174" y="6346031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86174" y="14684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1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0611" y="6356350"/>
            <a:ext cx="2844800" cy="365125"/>
          </a:xfrm>
        </p:spPr>
        <p:txBody>
          <a:bodyPr/>
          <a:lstStyle/>
          <a:p>
            <a:fld id="{0B0649A7-D779-44C1-B813-493A43ED40D7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70173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6173" y="162584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6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67864" y="6338916"/>
            <a:ext cx="2844800" cy="365125"/>
          </a:xfrm>
        </p:spPr>
        <p:txBody>
          <a:bodyPr/>
          <a:lstStyle/>
          <a:p>
            <a:fld id="{279018F1-558F-4DC1-97DB-E1B5B3347B75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96053" y="6338916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12053" y="153959"/>
            <a:ext cx="2844800" cy="365125"/>
          </a:xfrm>
        </p:spPr>
        <p:txBody>
          <a:bodyPr/>
          <a:lstStyle/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1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EAD4A-2217-4C7E-B667-60CDAA17FAE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423EA-BA58-4820-BB73-6A147064D74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new templat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7114C82-B9E8-4CAA-8F90-F8EBCB8EFEA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415" y="6153196"/>
            <a:ext cx="5297864" cy="6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3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3840" y="89428"/>
            <a:ext cx="17748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Reminders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8343" y="870858"/>
            <a:ext cx="11173097" cy="305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lang="en-US" sz="2800" dirty="0"/>
              <a:t>Encapsulation Tutorial: Due Tuesday September 1</a:t>
            </a:r>
            <a:r>
              <a:rPr lang="en-US" sz="2800" baseline="30000" dirty="0"/>
              <a:t>st</a:t>
            </a:r>
            <a:r>
              <a:rPr lang="en-US" sz="2800" dirty="0"/>
              <a:t> midnight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lang="en-US" sz="2800" dirty="0"/>
              <a:t>Properties Tutorial: Due Wednesday September 2</a:t>
            </a:r>
            <a:r>
              <a:rPr lang="en-US" sz="2800" baseline="30000" dirty="0"/>
              <a:t>nd</a:t>
            </a:r>
            <a:r>
              <a:rPr lang="en-US" sz="2800" dirty="0"/>
              <a:t> midnight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lang="en-US" sz="2800" dirty="0"/>
              <a:t>Milestone 1: Due Friday September 4</a:t>
            </a:r>
            <a:r>
              <a:rPr lang="en-US" sz="2800" baseline="30000" dirty="0"/>
              <a:t>th</a:t>
            </a:r>
            <a:r>
              <a:rPr lang="en-US" sz="2800" dirty="0"/>
              <a:t> midnight</a:t>
            </a:r>
            <a:endParaRPr sz="2800" dirty="0"/>
          </a:p>
          <a:p>
            <a:pPr>
              <a:spcAft>
                <a:spcPts val="800"/>
              </a:spcAft>
              <a:defRPr sz="1900">
                <a:solidFill>
                  <a:srgbClr val="191C26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170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3400"/>
            </a:pPr>
            <a:r>
              <a:rPr lang="en-US" sz="4000" b="1" dirty="0"/>
              <a:t>Encapsulation</a:t>
            </a:r>
            <a:endParaRPr sz="4000" b="1" dirty="0"/>
          </a:p>
        </p:txBody>
      </p:sp>
    </p:spTree>
    <p:extLst>
      <p:ext uri="{BB962C8B-B14F-4D97-AF65-F5344CB8AC3E}">
        <p14:creationId xmlns:p14="http://schemas.microsoft.com/office/powerpoint/2010/main" val="504075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3840" y="89428"/>
            <a:ext cx="34727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dirty="0">
                <a:solidFill>
                  <a:schemeClr val="bg1"/>
                </a:solidFill>
              </a:rPr>
              <a:t>Big Idea for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960120"/>
            <a:ext cx="108356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Fields and properties are not just C# syntax.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They are part of a larger object-oriented design story.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Good classes combine state, behavior, controlled access, and validation.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goal is to understand why it should be designed this way.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629400" y="5212080"/>
            <a:ext cx="4526280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State + Behavior + Controlled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8920" y="96012"/>
            <a:ext cx="2936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One Price Is Easy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double price = 29.99;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912592"/>
            <a:ext cx="5257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A single variable can store one product price.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For tiny programs, this is enough.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But real software requirements usually grow.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moment we add rules and related operations, a single loose variable becomes too limited.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58763" y="123444"/>
            <a:ext cx="61534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Many Prices: Now We Need a Collection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double[] prices = new double[5];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536192"/>
            <a:ext cx="5257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C26"/>
                </a:solidFill>
              </a:defRPr>
            </a:pPr>
            <a:r>
              <a:rPr dirty="0"/>
              <a:t>An array stores multiple values of the same type.</a:t>
            </a:r>
          </a:p>
          <a:p>
            <a:pPr>
              <a:spcAft>
                <a:spcPts val="800"/>
              </a:spcAft>
              <a:defRPr sz="1800">
                <a:solidFill>
                  <a:srgbClr val="191C26"/>
                </a:solidFill>
              </a:defRPr>
            </a:pPr>
            <a:r>
              <a:rPr dirty="0"/>
              <a:t>Here, the array can hold five double values.</a:t>
            </a:r>
          </a:p>
          <a:p>
            <a:pPr>
              <a:spcAft>
                <a:spcPts val="800"/>
              </a:spcAft>
              <a:defRPr sz="1800">
                <a:solidFill>
                  <a:srgbClr val="191C26"/>
                </a:solidFill>
              </a:defRPr>
            </a:pPr>
            <a:r>
              <a:rPr dirty="0"/>
              <a:t>But the array alone does not explain the business meaning.</a:t>
            </a:r>
          </a:p>
          <a:p>
            <a:pPr>
              <a:spcAft>
                <a:spcPts val="800"/>
              </a:spcAft>
              <a:defRPr sz="1800">
                <a:solidFill>
                  <a:srgbClr val="191C26"/>
                </a:solidFill>
              </a:defRPr>
            </a:pPr>
            <a:r>
              <a:rPr dirty="0"/>
              <a:t>Are these prices, grades, salaries, temperatures, or something else?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9860" y="59436"/>
            <a:ext cx="7701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Then the Requirements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0513" y="891540"/>
            <a:ext cx="1083564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Every group of prices belongs to a product category.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Prices cannot be negative.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We need to know the number of products.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We need to set and get prices safely.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We need total, average, highest, and lowest price.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We need to avoid invalid array indexes.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60" y="5074920"/>
            <a:ext cx="4114800" cy="731520"/>
          </a:xfrm>
          <a:prstGeom prst="roundRect">
            <a:avLst/>
          </a:prstGeom>
          <a:solidFill>
            <a:srgbClr val="4E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Related data + rules +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60589" y="59436"/>
            <a:ext cx="5765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Why Not Put Everything in Main()?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261" y="891540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can become a dumping ground for unrelated responsibilities.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Validation rules get scattered.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Calculations become duplicated.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Changing the program later becomes harder.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Object-oriented programming gives related data and behavior a home.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4415" y="118872"/>
            <a:ext cx="2677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3278" y="891540"/>
            <a:ext cx="10835640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 class is a definition of a type.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It describes what objects of that type contain.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It also describes what objects of that type can do.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Analogy: a class is like a blueprint.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6720840" y="5074920"/>
            <a:ext cx="4343400" cy="685800"/>
          </a:xfrm>
          <a:prstGeom prst="roundRect">
            <a:avLst/>
          </a:prstGeom>
          <a:solidFill>
            <a:srgbClr val="145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Class = blueprint /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1007" y="29992"/>
            <a:ext cx="5765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A Class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public class </a:t>
            </a:r>
            <a:r>
              <a:rPr dirty="0" err="1"/>
              <a:t>ProductPriceManager</a:t>
            </a:r>
            <a:endParaRPr lang="en-US" dirty="0"/>
          </a:p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{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536192"/>
            <a:ext cx="5257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This defines a new type.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It does not yet create a specific object.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It tells C# what a </a:t>
            </a:r>
            <a:r>
              <a:rPr sz="2800" dirty="0" err="1"/>
              <a:t>ProductPriceManager</a:t>
            </a:r>
            <a:r>
              <a:rPr sz="2800" dirty="0"/>
              <a:t> can look like.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Later, new creates an actual instance.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7755" y="0"/>
            <a:ext cx="3605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What Is an Object?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7991" y="888558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An object is a particular instance of a class.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class defines the structure.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object carries actual values.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Same class, different objects, different state.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Example: one manager for Electronics and another for Groceries.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1651" y="59436"/>
            <a:ext cx="4599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Same Class, Different Objects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4965192" cy="3963063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365497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5BDA"/>
                </a:solidFill>
              </a:defRPr>
            </a:pPr>
            <a:r>
              <a:rPr sz="3200" dirty="0"/>
              <a:t>Object 1: Electronics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470916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Category: Electronics</a:t>
            </a:r>
            <a:endParaRPr lang="en-US"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Prices: </a:t>
            </a:r>
            <a:endParaRPr lang="en-US" sz="2800" dirty="0"/>
          </a:p>
          <a:p>
            <a:pPr marL="742950" lvl="1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799.99, 1299.00, 249.50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4754880" cy="3963063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664208"/>
            <a:ext cx="34337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E2D87"/>
                </a:solidFill>
              </a:defRPr>
            </a:pPr>
            <a:r>
              <a:rPr sz="3200" dirty="0"/>
              <a:t>Object 2: Groceries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240280"/>
            <a:ext cx="470916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Category: Groceries</a:t>
            </a:r>
            <a:endParaRPr lang="en-US" sz="2800" dirty="0"/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Prices: </a:t>
            </a:r>
            <a:endParaRPr lang="en-US" sz="2800" dirty="0"/>
          </a:p>
          <a:p>
            <a:pPr marL="914400" lvl="1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3.99, 5.49, 8.25, 2.79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3199" y="109728"/>
            <a:ext cx="36056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State vs. Behavior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" y="1005840"/>
            <a:ext cx="5212080" cy="4846320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11689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5BDA"/>
                </a:solidFill>
              </a:defRPr>
            </a:pPr>
            <a:r>
              <a:rPr sz="3600" dirty="0"/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240280"/>
            <a:ext cx="470916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What the object knows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Stored information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Usually represented with fields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Example: category and prices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075156"/>
            <a:ext cx="5212080" cy="4846320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664208"/>
            <a:ext cx="18885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E2D87"/>
                </a:solidFill>
              </a:defRPr>
            </a:pPr>
            <a:r>
              <a:rPr sz="3600" dirty="0"/>
              <a:t>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2240280"/>
            <a:ext cx="4709160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What the object can do</a:t>
            </a:r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Operations involving the state</a:t>
            </a:r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Usually represented with methods</a:t>
            </a:r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Example: calculate average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2660" y="134510"/>
            <a:ext cx="7726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Fields Store Object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private string _productCategory;</a:t>
            </a:r>
            <a:br/>
            <a:r>
              <a:t>private double[] _prices;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536192"/>
            <a:ext cx="5257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field is a variable declared inside a class.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Fields usually represent the object's internal state.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_</a:t>
            </a:r>
            <a:r>
              <a:rPr sz="2800" dirty="0" err="1"/>
              <a:t>productCategory</a:t>
            </a:r>
            <a:r>
              <a:rPr sz="2800" dirty="0"/>
              <a:t> stores the category name.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_prices refers to an array of price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06539" y="195590"/>
            <a:ext cx="41894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Product Category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7992" y="891540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_</a:t>
            </a:r>
            <a:r>
              <a:rPr sz="2800" dirty="0" err="1"/>
              <a:t>productCategory</a:t>
            </a:r>
            <a:r>
              <a:rPr sz="2800" dirty="0"/>
              <a:t> might store "Electronics".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Another object might store "Books".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Another might store "Groceries".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field belongs to each individual object.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Each object can therefore have its own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3036" y="59436"/>
            <a:ext cx="33859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Prices Array Field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39" y="1508760"/>
            <a:ext cx="5981369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Index:     0       1       2       3</a:t>
            </a:r>
            <a:br/>
            <a:r>
              <a:t>Price:   10.00   25.50   99.99   12.75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6113" y="1508760"/>
            <a:ext cx="458392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_prices does not store one price.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It refers to an array of prices.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index identifies a position in the array.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value at that position is the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56722" y="154851"/>
            <a:ext cx="4442791" cy="536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Array Indexing Refresher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224" y="1033472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Arrays start at index 0.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If an array has 5 elements, valid indexes are 0, 1, 2, 3, and 4.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Index 5 does not exist.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Length tells us how many elements exist.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final valid index is Length - 1.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33297" y="84897"/>
            <a:ext cx="38145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Information Hiding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2729" y="909828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class hides internal implementation details other code does not need.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Other code should know what it can ask the object to do.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Other code should not depend on every internal detail.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Analogy: you drive a car with pedals and a steering wheel, not by manually controlling engine internals.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This makes software easier to change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3085" y="0"/>
            <a:ext cx="286366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Encapsulation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3564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Encapsulation bundles related state and behavior inside an object.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It also controls access to internal state.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groups category, prices, and price operations.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Outside code interacts through a controlled public surface.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85907" y="5189220"/>
            <a:ext cx="6035040" cy="685800"/>
          </a:xfrm>
          <a:prstGeom prst="roundRect">
            <a:avLst/>
          </a:prstGeom>
          <a:solidFill>
            <a:srgbClr val="4E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Encapsulation = state + behavior + controlled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1161" y="173736"/>
            <a:ext cx="712207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Encapsulation Is Not Just “Private Fields”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494" y="855233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Private fields are one tool.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Encapsulation is the larger design idea.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class can have private fields but still poor design.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Good encapsulation asks what should be visible, changeable, and protected.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goal is valid, maintainable object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1479" y="59436"/>
            <a:ext cx="54487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Analogy: The Vending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808621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Customers do not reach inside and change product prices directly.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They insert money, choose a product, and receive a result.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machine protects internal inventory, pricing, and mechanisms.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should protect its price array in the same spirit.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public methods are the safe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0563" y="122437"/>
            <a:ext cx="46135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ProductCategory</a:t>
            </a:r>
            <a:r>
              <a:rPr sz="3200" dirty="0">
                <a:solidFill>
                  <a:schemeClr val="bg1"/>
                </a:solidFill>
              </a:rPr>
              <a:t> Property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public string </a:t>
            </a:r>
            <a:r>
              <a:rPr dirty="0" err="1"/>
              <a:t>ProductCategory</a:t>
            </a:r>
            <a:br>
              <a:rPr dirty="0"/>
            </a:br>
            <a:r>
              <a:rPr dirty="0"/>
              <a:t>{</a:t>
            </a:r>
            <a:br>
              <a:rPr dirty="0"/>
            </a:br>
            <a:r>
              <a:rPr dirty="0"/>
              <a:t>    get</a:t>
            </a:r>
            <a:br>
              <a:rPr dirty="0"/>
            </a:br>
            <a:r>
              <a:rPr dirty="0"/>
              <a:t>    {</a:t>
            </a:r>
            <a:br>
              <a:rPr dirty="0"/>
            </a:br>
            <a:r>
              <a:rPr dirty="0"/>
              <a:t>        return _</a:t>
            </a:r>
            <a:r>
              <a:rPr dirty="0" err="1"/>
              <a:t>productCategory</a:t>
            </a:r>
            <a:r>
              <a:rPr dirty="0"/>
              <a:t>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set</a:t>
            </a:r>
            <a:br>
              <a:rPr dirty="0"/>
            </a:br>
            <a:r>
              <a:rPr dirty="0"/>
              <a:t>    {</a:t>
            </a:r>
            <a:br>
              <a:rPr dirty="0"/>
            </a:br>
            <a:r>
              <a:rPr dirty="0"/>
              <a:t>        _</a:t>
            </a:r>
            <a:r>
              <a:rPr dirty="0" err="1"/>
              <a:t>productCategory</a:t>
            </a:r>
            <a:r>
              <a:rPr dirty="0"/>
              <a:t> = value;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960" y="998309"/>
            <a:ext cx="52578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field stores the actual value.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property exposes controlled access.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getter returns the value.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setter receives and stores a new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1344" y="0"/>
            <a:ext cx="51167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Getter and Setter in Slow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35640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manager.ProductCategory</a:t>
            </a:r>
            <a:r>
              <a:rPr sz="2400" dirty="0"/>
              <a:t> = "Electronics"; calls the setter.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Inside the setter, value contains "Electronics".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Console.WriteLine</a:t>
            </a:r>
            <a:r>
              <a:rPr sz="2400" dirty="0"/>
              <a:t>(</a:t>
            </a:r>
            <a:r>
              <a:rPr sz="2400" dirty="0" err="1"/>
              <a:t>manager.ProductCategory</a:t>
            </a:r>
            <a:r>
              <a:rPr sz="2400" dirty="0"/>
              <a:t>); calls the getter.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getter returns the stored value.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Property syntax looks simple outside the class, but the class remains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97949" y="52852"/>
            <a:ext cx="36697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Properties Can Validate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set</a:t>
            </a:r>
            <a:br>
              <a:rPr dirty="0"/>
            </a:br>
            <a:r>
              <a:rPr dirty="0"/>
              <a:t>{</a:t>
            </a:r>
            <a:br>
              <a:rPr dirty="0"/>
            </a:br>
            <a:r>
              <a:rPr dirty="0"/>
              <a:t>    if (!</a:t>
            </a:r>
            <a:r>
              <a:rPr dirty="0" err="1"/>
              <a:t>string.IsNullOrWhiteSpace</a:t>
            </a:r>
            <a:r>
              <a:rPr dirty="0"/>
              <a:t>(value))</a:t>
            </a:r>
            <a:br>
              <a:rPr dirty="0"/>
            </a:br>
            <a:r>
              <a:rPr dirty="0"/>
              <a:t>    {</a:t>
            </a:r>
            <a:br>
              <a:rPr dirty="0"/>
            </a:br>
            <a:r>
              <a:rPr dirty="0"/>
              <a:t>        _</a:t>
            </a:r>
            <a:r>
              <a:rPr dirty="0" err="1"/>
              <a:t>productCategory</a:t>
            </a:r>
            <a:r>
              <a:rPr dirty="0"/>
              <a:t> = value;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57900" y="810051"/>
            <a:ext cx="5257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public field has no control point.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property gives the class a place to enforce rules.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Today the rule may be simple.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Tomorrow the setter can reject blank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60525" y="20778"/>
            <a:ext cx="54487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ProductCount</a:t>
            </a:r>
            <a:r>
              <a:rPr dirty="0">
                <a:solidFill>
                  <a:schemeClr val="bg1"/>
                </a:solidFill>
              </a:rPr>
              <a:t> Should Be Read-Only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771862"/>
            <a:ext cx="1083564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 err="1"/>
              <a:t>ProductCount</a:t>
            </a:r>
            <a:r>
              <a:rPr sz="2800" dirty="0"/>
              <a:t> should describe the size of the price array.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Outside code should not set </a:t>
            </a:r>
            <a:r>
              <a:rPr sz="2800" dirty="0" err="1"/>
              <a:t>ProductCount</a:t>
            </a:r>
            <a:r>
              <a:rPr sz="2800" dirty="0"/>
              <a:t> independently.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If _prices has 5 elements, </a:t>
            </a:r>
            <a:r>
              <a:rPr sz="2800" dirty="0" err="1"/>
              <a:t>ProductCount</a:t>
            </a:r>
            <a:r>
              <a:rPr sz="2800" dirty="0"/>
              <a:t> should be 5.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6812280" y="5074920"/>
            <a:ext cx="4251960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ProductCount = _prices.Length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1281" y="178308"/>
            <a:ext cx="63219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A Read-Only </a:t>
            </a:r>
            <a:r>
              <a:rPr sz="3200" dirty="0" err="1">
                <a:solidFill>
                  <a:schemeClr val="bg1"/>
                </a:solidFill>
              </a:rPr>
              <a:t>ProductCount</a:t>
            </a:r>
            <a:r>
              <a:rPr sz="3200" dirty="0">
                <a:solidFill>
                  <a:schemeClr val="bg1"/>
                </a:solidFill>
              </a:rPr>
              <a:t> Property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public int ProductCount</a:t>
            </a:r>
            <a:br/>
            <a:r>
              <a:t>{</a:t>
            </a:r>
            <a:br/>
            <a:r>
              <a:t>    get</a:t>
            </a:r>
            <a:br/>
            <a:r>
              <a:t>    {</a:t>
            </a:r>
            <a:br/>
            <a:r>
              <a:t>        return _prices.Length;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57047" y="957968"/>
            <a:ext cx="525780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No public setter is needed.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value is derived from the array length.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property exposes information without allowing arbitrary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3789" y="195590"/>
            <a:ext cx="40643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What Is a Constructor?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8128" y="1033472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constructor runs when an object is created.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Its job is to initialize the object's state.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needs a category and number of products.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constructor gives the object a meaningful beginning.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Good objects should not begin life in a broken or unusable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08584" y="29992"/>
            <a:ext cx="37560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Constructor Inputs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ProductPriceManager(</a:t>
            </a:r>
            <a:br/>
            <a:r>
              <a:t>    string productCategory,</a:t>
            </a:r>
            <a:br/>
            <a:r>
              <a:t>    int numberOfProducts</a:t>
            </a:r>
            <a:br/>
            <a: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823498"/>
            <a:ext cx="5257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category tells us what group of products is being managed.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number of products tells us how large the price array should be.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constructor can store the category.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constructor can create the array.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23754" y="122437"/>
            <a:ext cx="33441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Initial Object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Category: Electronics</a:t>
            </a:r>
            <a:br/>
            <a:br/>
            <a:r>
              <a:t>Index:   0    1    2    3    4</a:t>
            </a:r>
            <a:br/>
            <a:r>
              <a:t>Value:  0.0  0.0  0.0  0.0  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333" y="920621"/>
            <a:ext cx="5257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Immediately after construction, the array exists.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values are initialized to 0.0.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Prices can then be safely set</a:t>
            </a:r>
            <a:r>
              <a:rPr lang="en-US" sz="2800" dirty="0"/>
              <a:t> through a method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object has a valid starting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5903" y="0"/>
            <a:ext cx="45263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Methods Represent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235" y="771862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Fields answer: what does the object know?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Methods answer: what can the object do?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methods work with the internal price array.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methods are cohesive because they all support price management.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class should not become a collection of unrelated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9430" y="103144"/>
            <a:ext cx="54328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Two Kinds of Method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5212080" cy="4846320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25368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45BDA"/>
                </a:solidFill>
              </a:defRPr>
            </a:pPr>
            <a:r>
              <a:rPr sz="3200" dirty="0"/>
              <a:t>Changes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4709160" cy="303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SetPrice</a:t>
            </a:r>
            <a:r>
              <a:rPr sz="2800" dirty="0"/>
              <a:t>()</a:t>
            </a:r>
            <a:endParaRPr lang="en-US"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Mutating method</a:t>
            </a:r>
            <a:endParaRPr lang="en-US"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Must validate before changing internal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212080" cy="4846320"/>
          </a:xfrm>
          <a:prstGeom prst="roundRect">
            <a:avLst/>
          </a:prstGeom>
          <a:solidFill>
            <a:srgbClr val="F6F8FC"/>
          </a:solidFill>
          <a:ln>
            <a:solidFill>
              <a:srgbClr val="DA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26688" y="1099577"/>
            <a:ext cx="39711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E2D87"/>
                </a:solidFill>
              </a:defRPr>
            </a:pPr>
            <a:r>
              <a:rPr sz="3200" dirty="0"/>
              <a:t>Reads/calculates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6540" y="1664208"/>
            <a:ext cx="4709160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GetPrice</a:t>
            </a:r>
            <a:r>
              <a:rPr sz="2400" dirty="0"/>
              <a:t>()</a:t>
            </a:r>
            <a:endParaRPr lang="en-US"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CalculateTotalValue</a:t>
            </a:r>
            <a:r>
              <a:rPr sz="2400" dirty="0"/>
              <a:t>()</a:t>
            </a:r>
            <a:endParaRPr lang="en-US"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CalculateAveragePrice</a:t>
            </a:r>
            <a:r>
              <a:rPr sz="2400" dirty="0"/>
              <a:t>()</a:t>
            </a:r>
            <a:endParaRPr lang="en-US"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GetMostExpensivePrice</a:t>
            </a:r>
            <a:r>
              <a:rPr sz="2400" dirty="0"/>
              <a:t>()</a:t>
            </a:r>
            <a:endParaRPr lang="en-US"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GetCheapestPrice</a:t>
            </a:r>
            <a:r>
              <a:rPr sz="2400" dirty="0"/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7673" y="189006"/>
            <a:ext cx="51563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SetPrice</a:t>
            </a:r>
            <a:r>
              <a:rPr sz="3200" dirty="0">
                <a:solidFill>
                  <a:schemeClr val="bg1"/>
                </a:solidFill>
              </a:rPr>
              <a:t>() Receives a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t>SetPrice(int index, double price)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5121" y="1032744"/>
            <a:ext cx="5257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index says which position should change.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price says what value should be stored.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/>
              <a:t>The method should not blindly accept the request.</a:t>
            </a:r>
            <a:endParaRPr lang="en-US"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4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400" dirty="0" err="1"/>
              <a:t>SetPrice</a:t>
            </a:r>
            <a:r>
              <a:rPr sz="2400" dirty="0"/>
              <a:t>() is a gatekeeper for the private array.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6245" y="162580"/>
            <a:ext cx="43180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Validation Rule #1: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282" y="963232"/>
            <a:ext cx="1083564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Prices cannot be negative.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50 is valid.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0 is valid because it is not negative.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-1 is invalid.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-99.99 is invalid.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object should reject invalid prices before changing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5074920"/>
            <a:ext cx="3246120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price &gt;=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2404" y="162580"/>
            <a:ext cx="44126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Validation Rule #2: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891540"/>
            <a:ext cx="10835640" cy="4257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The index must be inside the array.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For length 5, valid indexes are 0 through 4.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index must be greater than or equal to 0.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index must be less than _</a:t>
            </a:r>
            <a:r>
              <a:rPr sz="2800" dirty="0" err="1"/>
              <a:t>prices.Length</a:t>
            </a:r>
            <a:r>
              <a:rPr sz="2800" dirty="0"/>
              <a:t>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6172200" y="5074920"/>
            <a:ext cx="5074920" cy="685800"/>
          </a:xfrm>
          <a:prstGeom prst="roundRect">
            <a:avLst/>
          </a:prstGeom>
          <a:solidFill>
            <a:srgbClr val="145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index &gt;= 0 &amp;&amp; index &lt; _prices.Length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5247" y="0"/>
            <a:ext cx="50811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GetPrice</a:t>
            </a:r>
            <a:r>
              <a:rPr sz="3200" dirty="0">
                <a:solidFill>
                  <a:schemeClr val="bg1"/>
                </a:solidFill>
              </a:rPr>
              <a:t>() Reads State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941" y="895574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GetPrice</a:t>
            </a:r>
            <a:r>
              <a:rPr sz="2800" dirty="0"/>
              <a:t>(int index) retrieves a price.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It still must validate the index.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Reading invalid array positions can crash a program.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Encapsulation protects both writes and reads.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Do not assume outside requests are valid.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08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2185" y="172123"/>
            <a:ext cx="76171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DisplayPrices</a:t>
            </a:r>
            <a:r>
              <a:rPr sz="3200" dirty="0">
                <a:solidFill>
                  <a:schemeClr val="bg1"/>
                </a:solidFill>
              </a:rPr>
              <a:t>() Uses the Object’s Own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2940" y="1030045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DisplayPrices</a:t>
            </a:r>
            <a:r>
              <a:rPr sz="2800" dirty="0"/>
              <a:t>() does not need the array passed in.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object already owns _prices.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Methods inside the class can access private fields.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This is one advantage of grouping behavior with state.</a:t>
            </a:r>
            <a:endParaRPr lang="en-US"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object displays the prices it manages.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0753" y="162580"/>
            <a:ext cx="63312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CalculateTotalValue</a:t>
            </a:r>
            <a:r>
              <a:rPr sz="3200" dirty="0">
                <a:solidFill>
                  <a:schemeClr val="bg1"/>
                </a:solidFill>
              </a:rPr>
              <a:t>(): Accumulation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022095"/>
            <a:ext cx="1083564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Start total at 0.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Visit each price.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Add the price to the running total.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Return the total.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Example: 10 + 20 + 30 + 40 = 100.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5074920"/>
            <a:ext cx="4069080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total = total + nextPrice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9264" y="162580"/>
            <a:ext cx="421064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CalculateAveragePrice</a:t>
            </a:r>
            <a:r>
              <a:rPr sz="32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6764" y="968361"/>
            <a:ext cx="108356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Average = total / count.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If prices are 10, 20, 30, 40: total is 100.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Count is 4.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Average is 25.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Averages depend on both the array contents and the number of products.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5074920"/>
            <a:ext cx="6080760" cy="685800"/>
          </a:xfrm>
          <a:prstGeom prst="roundRect">
            <a:avLst/>
          </a:prstGeom>
          <a:solidFill>
            <a:srgbClr val="4E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average = CalculateTotalValue() / ProductCount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1956" y="0"/>
            <a:ext cx="47381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224B"/>
                </a:solidFill>
              </a:defRPr>
            </a:pPr>
            <a:r>
              <a:rPr sz="3600" dirty="0">
                <a:solidFill>
                  <a:schemeClr val="bg1"/>
                </a:solidFill>
              </a:rPr>
              <a:t>Reuse Existing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835" y="797177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If </a:t>
            </a:r>
            <a:r>
              <a:rPr sz="2800" dirty="0" err="1"/>
              <a:t>CalculateTotalValue</a:t>
            </a:r>
            <a:r>
              <a:rPr sz="2800" dirty="0"/>
              <a:t>() already exists, </a:t>
            </a:r>
            <a:r>
              <a:rPr sz="2800" dirty="0" err="1"/>
              <a:t>CalculateAveragePrice</a:t>
            </a:r>
            <a:r>
              <a:rPr sz="2800" dirty="0"/>
              <a:t>() may reuse it.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Methods inside a class can call other methods in the same class.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This avoids duplicating logic.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If the total calculation changes later, there is one main place to update.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Reusable methods make classes easier to maintain.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4468" y="162580"/>
            <a:ext cx="63312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Most Expensive Price: Champion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915720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Start with the first price as the current champion.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Compare each next price.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If the next price is larger, it becomes the new champion.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After every value is checked, the champion is the maximum.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Example: 25.99, 19.50, 120.00, 48.75 → 120.00.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0508" y="162580"/>
            <a:ext cx="78109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Cheapest Price: Same Pattern, Opposite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2730" y="800760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Start with the first price as the current cheapest.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Compare each next price.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If the next price is smaller, update current cheapest.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After every value is checked, the cheapest value remains.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This same pattern works for lowest grade, lowest temperature, smallest distance, and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8110" y="71141"/>
            <a:ext cx="82167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 err="1">
                <a:solidFill>
                  <a:schemeClr val="bg1"/>
                </a:solidFill>
              </a:rPr>
              <a:t>ProductPriceManager</a:t>
            </a:r>
            <a:r>
              <a:rPr sz="3200" dirty="0">
                <a:solidFill>
                  <a:schemeClr val="bg1"/>
                </a:solidFill>
              </a:rPr>
              <a:t> as a Protective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1325880"/>
            <a:ext cx="6309360" cy="594360"/>
          </a:xfrm>
          <a:prstGeom prst="roundRect">
            <a:avLst/>
          </a:prstGeom>
          <a:solidFill>
            <a:srgbClr val="F1EDF8"/>
          </a:solidFill>
          <a:ln>
            <a:solidFill>
              <a:srgbClr val="4E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91C26"/>
                </a:solidFill>
              </a:defRPr>
            </a:pPr>
            <a:r>
              <a:t>ProductPriceManager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331720"/>
            <a:ext cx="4572000" cy="2057400"/>
          </a:xfrm>
          <a:prstGeom prst="roundRect">
            <a:avLst/>
          </a:prstGeom>
          <a:solidFill>
            <a:srgbClr val="F6F8FC"/>
          </a:solidFill>
          <a:ln>
            <a:solidFill>
              <a:srgbClr val="145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1C26"/>
                </a:solidFill>
              </a:defRPr>
            </a:pPr>
            <a:r>
              <a:t>PRIVATE INTERNAL STATE</a:t>
            </a:r>
            <a:br/>
            <a:br/>
            <a:r>
              <a:t>_productCategory</a:t>
            </a:r>
            <a:br/>
            <a:r>
              <a:t>_prices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331720"/>
            <a:ext cx="4572000" cy="2057400"/>
          </a:xfrm>
          <a:prstGeom prst="roundRect">
            <a:avLst/>
          </a:prstGeom>
          <a:solidFill>
            <a:srgbClr val="F6F8FC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CONTROLLED PUBLIC ACCESS</a:t>
            </a:r>
            <a:br/>
            <a:br/>
            <a:r>
              <a:t>ProductCategory • ProductCount</a:t>
            </a:r>
            <a:br/>
            <a:r>
              <a:t>SetPrice() • GetPrice()</a:t>
            </a:r>
            <a:br/>
            <a:r>
              <a:t>Calculations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" y="3337560"/>
            <a:ext cx="777240" cy="0"/>
          </a:xfrm>
          <a:prstGeom prst="line">
            <a:avLst/>
          </a:prstGeom>
          <a:ln w="25400">
            <a:solidFill>
              <a:srgbClr val="4E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5074920"/>
            <a:ext cx="7498079" cy="685800"/>
          </a:xfrm>
          <a:prstGeom prst="roundRect">
            <a:avLst/>
          </a:prstGeom>
          <a:solidFill>
            <a:srgbClr val="4E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Encapsulation: hide internals, expose safe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0178" y="195590"/>
            <a:ext cx="48660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What Should Main() Know?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5836" y="864194"/>
            <a:ext cx="10835640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create the object.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set and read prices through public methods/properties.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request totals, averages, highest, and lowest values.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not manipulate _prices directly.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Main() should not depend on the internal calculation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70251" y="77173"/>
            <a:ext cx="36511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lang="en-US" sz="3200" dirty="0">
                <a:solidFill>
                  <a:schemeClr val="bg1"/>
                </a:solidFill>
              </a:rPr>
              <a:t>Live-Coding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831563"/>
            <a:ext cx="1083564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Build the class incrementally.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Add fields first.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Add the constructor and create the array.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Add properties and test them.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Implement </a:t>
            </a:r>
            <a:r>
              <a:rPr sz="2400" dirty="0" err="1"/>
              <a:t>SetPrice</a:t>
            </a:r>
            <a:r>
              <a:rPr sz="2400" dirty="0"/>
              <a:t>() and test valid/invalid inputs.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400" dirty="0"/>
              <a:t>Then add </a:t>
            </a:r>
            <a:r>
              <a:rPr sz="2400" dirty="0" err="1"/>
              <a:t>GetPrice</a:t>
            </a:r>
            <a:r>
              <a:rPr sz="2400" dirty="0"/>
              <a:t>(), display, and calculations.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95160" y="5074920"/>
            <a:ext cx="3977639" cy="685800"/>
          </a:xfrm>
          <a:prstGeom prst="roundRect">
            <a:avLst/>
          </a:prstGeom>
          <a:solidFill>
            <a:srgbClr val="22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Reason → Code → Test → Repeat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29694" y="52852"/>
            <a:ext cx="37323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Mental Test Scenario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5029200" cy="3977639"/>
          </a:xfrm>
          <a:prstGeom prst="roundRect">
            <a:avLst/>
          </a:prstGeom>
          <a:solidFill>
            <a:srgbClr val="F5F6FA"/>
          </a:solidFill>
          <a:ln>
            <a:solidFill>
              <a:srgbClr val="D7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>
              <a:defRPr sz="1800">
                <a:solidFill>
                  <a:srgbClr val="191C26"/>
                </a:solidFill>
                <a:latin typeface="Consolas"/>
              </a:defRPr>
            </a:pPr>
            <a:r>
              <a:rPr dirty="0"/>
              <a:t>Category: Books</a:t>
            </a:r>
            <a:br>
              <a:rPr dirty="0"/>
            </a:br>
            <a:r>
              <a:rPr dirty="0" err="1"/>
              <a:t>ProductCount</a:t>
            </a:r>
            <a:r>
              <a:rPr dirty="0"/>
              <a:t>: 4</a:t>
            </a:r>
            <a:br>
              <a:rPr dirty="0"/>
            </a:br>
            <a:br>
              <a:rPr dirty="0"/>
            </a:br>
            <a:r>
              <a:rPr dirty="0" err="1"/>
              <a:t>SetPrice</a:t>
            </a:r>
            <a:r>
              <a:rPr dirty="0"/>
              <a:t>(0, 15.99)</a:t>
            </a:r>
            <a:br>
              <a:rPr dirty="0"/>
            </a:br>
            <a:r>
              <a:rPr dirty="0" err="1"/>
              <a:t>SetPrice</a:t>
            </a:r>
            <a:r>
              <a:rPr dirty="0"/>
              <a:t>(1, 24.50)</a:t>
            </a:r>
            <a:br>
              <a:rPr dirty="0"/>
            </a:br>
            <a:r>
              <a:rPr dirty="0" err="1"/>
              <a:t>SetPrice</a:t>
            </a:r>
            <a:r>
              <a:rPr dirty="0"/>
              <a:t>(2, 8.99)</a:t>
            </a:r>
            <a:br>
              <a:rPr dirty="0"/>
            </a:br>
            <a:r>
              <a:rPr dirty="0" err="1"/>
              <a:t>SetPrice</a:t>
            </a:r>
            <a:r>
              <a:rPr dirty="0"/>
              <a:t>(3, 45.00)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6" y="850392"/>
            <a:ext cx="525780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Total should be 94.48.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Average should be 23.62.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Most expensive should be 45.00.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Cheapest should be 8.99.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Invalid changes should not alter these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6216" y="164812"/>
            <a:ext cx="420294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Connect to </a:t>
            </a:r>
            <a:r>
              <a:rPr sz="3200" dirty="0" err="1">
                <a:solidFill>
                  <a:schemeClr val="bg1"/>
                </a:solidFill>
              </a:rPr>
              <a:t>InnManager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0060" y="909021"/>
            <a:ext cx="1083564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A Room may have number, type, floor, capacity, rate, status, cleanliness, and balcony information.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Room rate should not be negative.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Validation should not live only in one button click.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/>
              <a:t>The object model should protect important domain rules.</a:t>
            </a:r>
            <a:endParaRPr lang="en-US"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endParaRPr sz="28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91C26"/>
                </a:solidFill>
              </a:defRPr>
            </a:pPr>
            <a:r>
              <a:rPr sz="2800" dirty="0" err="1"/>
              <a:t>ProductPriceManager</a:t>
            </a:r>
            <a:r>
              <a:rPr sz="2800" dirty="0"/>
              <a:t> is practice for that same thinking.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3400" y="116860"/>
            <a:ext cx="34229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Full Concept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1143000"/>
            <a:ext cx="2286000" cy="502920"/>
          </a:xfrm>
          <a:prstGeom prst="roundRect">
            <a:avLst/>
          </a:prstGeom>
          <a:solidFill>
            <a:srgbClr val="F1EDF8"/>
          </a:solidFill>
          <a:ln>
            <a:solidFill>
              <a:srgbClr val="4E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1874519"/>
            <a:ext cx="2286000" cy="502920"/>
          </a:xfrm>
          <a:prstGeom prst="roundRect">
            <a:avLst/>
          </a:prstGeom>
          <a:solidFill>
            <a:srgbClr val="F1EDF8"/>
          </a:solidFill>
          <a:ln>
            <a:solidFill>
              <a:srgbClr val="4E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OBJECT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743200"/>
            <a:ext cx="2743200" cy="594360"/>
          </a:xfrm>
          <a:prstGeom prst="roundRect">
            <a:avLst/>
          </a:prstGeom>
          <a:solidFill>
            <a:srgbClr val="F6F8FC"/>
          </a:solidFill>
          <a:ln>
            <a:solidFill>
              <a:srgbClr val="145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STATE</a:t>
            </a:r>
            <a:br/>
            <a:r>
              <a:t>Fields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743200"/>
            <a:ext cx="2743200" cy="594360"/>
          </a:xfrm>
          <a:prstGeom prst="roundRect">
            <a:avLst/>
          </a:prstGeom>
          <a:solidFill>
            <a:srgbClr val="F6F8FC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BEHAVIOR</a:t>
            </a:r>
            <a:br/>
            <a:r>
              <a:t>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794760"/>
            <a:ext cx="4251960" cy="594360"/>
          </a:xfrm>
          <a:prstGeom prst="roundRect">
            <a:avLst/>
          </a:prstGeom>
          <a:solidFill>
            <a:srgbClr val="F1EDF8"/>
          </a:solidFill>
          <a:ln>
            <a:solidFill>
              <a:srgbClr val="4E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91C26"/>
                </a:solidFill>
              </a:defRPr>
            </a:pPr>
            <a:r>
              <a:t>ENCAPSULATION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892040"/>
            <a:ext cx="3474720" cy="640080"/>
          </a:xfrm>
          <a:prstGeom prst="roundRect">
            <a:avLst/>
          </a:prstGeom>
          <a:solidFill>
            <a:srgbClr val="F6F8FC"/>
          </a:solidFill>
          <a:ln>
            <a:solidFill>
              <a:srgbClr val="145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1C26"/>
                </a:solidFill>
              </a:defRPr>
            </a:pPr>
            <a:r>
              <a:t>Information Hiding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892040"/>
            <a:ext cx="3474720" cy="640080"/>
          </a:xfrm>
          <a:prstGeom prst="roundRect">
            <a:avLst/>
          </a:prstGeom>
          <a:solidFill>
            <a:srgbClr val="F6F8FC"/>
          </a:solidFill>
          <a:ln>
            <a:solidFill>
              <a:srgbClr val="228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1C26"/>
                </a:solidFill>
              </a:defRPr>
            </a:pPr>
            <a:r>
              <a:t>Controlled Access</a:t>
            </a:r>
            <a:br/>
            <a:r>
              <a:t>Properties + Methods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645920"/>
            <a:ext cx="0" cy="228599"/>
          </a:xfrm>
          <a:prstGeom prst="line">
            <a:avLst/>
          </a:prstGeom>
          <a:ln w="25400">
            <a:solidFill>
              <a:srgbClr val="4E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200400" y="2377440"/>
            <a:ext cx="2286000" cy="365760"/>
          </a:xfrm>
          <a:prstGeom prst="line">
            <a:avLst/>
          </a:prstGeom>
          <a:ln w="25400">
            <a:solidFill>
              <a:srgbClr val="145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2377440"/>
            <a:ext cx="2286000" cy="365760"/>
          </a:xfrm>
          <a:prstGeom prst="line">
            <a:avLst/>
          </a:prstGeom>
          <a:ln w="25400">
            <a:solidFill>
              <a:srgbClr val="228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3337560"/>
            <a:ext cx="1920240" cy="457200"/>
          </a:xfrm>
          <a:prstGeom prst="line">
            <a:avLst/>
          </a:prstGeom>
          <a:ln w="25400">
            <a:solidFill>
              <a:srgbClr val="4E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086600" y="3337560"/>
            <a:ext cx="1874520" cy="457200"/>
          </a:xfrm>
          <a:prstGeom prst="line">
            <a:avLst/>
          </a:prstGeom>
          <a:ln w="25400">
            <a:solidFill>
              <a:srgbClr val="4E2D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566160" y="4389120"/>
            <a:ext cx="1828800" cy="502920"/>
          </a:xfrm>
          <a:prstGeom prst="line">
            <a:avLst/>
          </a:prstGeom>
          <a:ln w="25400">
            <a:solidFill>
              <a:srgbClr val="145B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4389120"/>
            <a:ext cx="1783080" cy="502920"/>
          </a:xfrm>
          <a:prstGeom prst="line">
            <a:avLst/>
          </a:prstGeom>
          <a:ln w="25400">
            <a:solidFill>
              <a:srgbClr val="228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7420" y="173736"/>
            <a:ext cx="29124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224B"/>
                </a:solidFill>
              </a:defRPr>
            </a:pPr>
            <a:r>
              <a:rPr sz="3200" dirty="0">
                <a:solidFill>
                  <a:schemeClr val="bg1"/>
                </a:solidFill>
              </a:rPr>
              <a:t>Closing 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2730" y="909021"/>
            <a:ext cx="1083564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Object-oriented programming is not about putting code inside classes just because C# allows it.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It is about organizing software around meaningful responsibilities.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A class owns state, provides behavior, and protects its rules.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endParaRPr sz="28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191C26"/>
                </a:solidFill>
              </a:defRPr>
            </a:pPr>
            <a:r>
              <a:rPr sz="2800" dirty="0"/>
              <a:t>Fields, properties, constructors, methods, access modifiers, and validation are pieces of one design philosophy.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633972"/>
            <a:ext cx="868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su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IS 115" id="{7EDE166B-13BF-4056-97B3-75D27B7E17DA}" vid="{D6DB819F-F053-49DC-9778-D3E949FDF6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_template-cs</Template>
  <TotalTime>10334</TotalTime>
  <Words>2387</Words>
  <Application>Microsoft Office PowerPoint</Application>
  <PresentationFormat>Widescreen</PresentationFormat>
  <Paragraphs>466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ksu theme</vt:lpstr>
      <vt:lpstr>PowerPoint Presentation</vt:lpstr>
      <vt:lpstr>Encapsulation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Adjacency Matrix</dc:title>
  <dc:creator>Josh Weese</dc:creator>
  <cp:lastModifiedBy>Friday James</cp:lastModifiedBy>
  <cp:revision>145</cp:revision>
  <dcterms:created xsi:type="dcterms:W3CDTF">2017-11-27T16:17:33Z</dcterms:created>
  <dcterms:modified xsi:type="dcterms:W3CDTF">2026-08-31T20:06:14Z</dcterms:modified>
</cp:coreProperties>
</file>